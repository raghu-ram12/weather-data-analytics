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F"/>
        </a:solidFill>
      </p:bgPr>
    </p:bg>
    <p:spTree>
      <p:nvGrpSpPr>
        <p:cNvPr id="1" name=""/>
        <p:cNvGrpSpPr/>
        <p:nvPr/>
      </p:nvGrpSpPr>
      <p:grpSpPr>
        <a:xfrm>
          <a:off x="0" y="0"/>
          <a:ext cx="0" cy="0"/>
          <a:chOff x="0" y="0"/>
          <a:chExt cx="0" cy="0"/>
        </a:xfrm>
      </p:grpSpPr>
      <p:sp>
        <p:nvSpPr>
          <p:cNvPr id="2" name="Shape 0"/>
          <p:cNvSpPr/>
          <p:nvPr/>
        </p:nvSpPr>
        <p:spPr>
          <a:xfrm>
            <a:off x="8412480" y="-1097280"/>
            <a:ext cx="5029200" cy="5029200"/>
          </a:xfrm>
          <a:prstGeom prst="ellipse">
            <a:avLst/>
          </a:prstGeom>
          <a:solidFill>
            <a:srgbClr val="3A4650">
              <a:alpha val="70000"/>
            </a:srgbClr>
          </a:solidFill>
          <a:ln/>
        </p:spPr>
      </p:sp>
      <p:sp>
        <p:nvSpPr>
          <p:cNvPr id="3" name="Shape 1"/>
          <p:cNvSpPr/>
          <p:nvPr/>
        </p:nvSpPr>
        <p:spPr>
          <a:xfrm>
            <a:off x="9144000" y="3474720"/>
            <a:ext cx="4206240" cy="4206240"/>
          </a:xfrm>
          <a:prstGeom prst="ellipse">
            <a:avLst/>
          </a:prstGeom>
          <a:solidFill>
            <a:srgbClr val="1F7A8C">
              <a:alpha val="45000"/>
            </a:srgbClr>
          </a:solidFill>
          <a:ln/>
        </p:spPr>
      </p:sp>
      <p:sp>
        <p:nvSpPr>
          <p:cNvPr id="4" name="Shape 2"/>
          <p:cNvSpPr/>
          <p:nvPr/>
        </p:nvSpPr>
        <p:spPr>
          <a:xfrm>
            <a:off x="548640" y="457200"/>
            <a:ext cx="3657600" cy="731520"/>
          </a:xfrm>
          <a:prstGeom prst="roundRect">
            <a:avLst>
              <a:gd name="adj" fmla="val 10000"/>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pic>
        <p:nvPicPr>
          <p:cNvPr id="5" name="Image 0" descr="img/a1_1.png">    </p:cNvPr>
          <p:cNvPicPr>
            <a:picLocks noChangeAspect="1"/>
          </p:cNvPicPr>
          <p:nvPr/>
        </p:nvPicPr>
        <p:blipFill>
          <a:blip r:embed="rId1"/>
          <a:stretch>
            <a:fillRect/>
          </a:stretch>
        </p:blipFill>
        <p:spPr>
          <a:xfrm>
            <a:off x="731520" y="594360"/>
            <a:ext cx="3291840" cy="445445"/>
          </a:xfrm>
          <a:prstGeom prst="rect">
            <a:avLst/>
          </a:prstGeom>
        </p:spPr>
      </p:pic>
      <p:sp>
        <p:nvSpPr>
          <p:cNvPr id="6" name="Text 3"/>
          <p:cNvSpPr txBox="1"/>
          <p:nvPr/>
        </p:nvSpPr>
        <p:spPr>
          <a:xfrm>
            <a:off x="548640" y="1737360"/>
            <a:ext cx="8229600" cy="274320"/>
          </a:xfrm>
          <a:prstGeom prst="rect">
            <a:avLst/>
          </a:prstGeom>
          <a:noFill/>
          <a:ln/>
        </p:spPr>
        <p:txBody>
          <a:bodyPr wrap="square" lIns="0" tIns="0" rIns="0" bIns="0" rtlCol="0" anchor="t"/>
          <a:lstStyle/>
          <a:p>
            <a:pPr indent="0" marL="0">
              <a:buNone/>
            </a:pPr>
            <a:r>
              <a:rPr lang="en-US" sz="1200" b="1" spc="300" kern="0" dirty="0">
                <a:solidFill>
                  <a:srgbClr val="F28C28"/>
                </a:solidFill>
                <a:latin typeface="Calibri" pitchFamily="34" charset="0"/>
                <a:ea typeface="Calibri" pitchFamily="34" charset="-122"/>
                <a:cs typeface="Calibri" pitchFamily="34" charset="-120"/>
              </a:rPr>
              <a:t>DATA ANALYTICS ESSENTIALS · PROJECT REVIEW 1 &amp; 2</a:t>
            </a:r>
            <a:endParaRPr lang="en-US" sz="1200" dirty="0"/>
          </a:p>
        </p:txBody>
      </p:sp>
      <p:sp>
        <p:nvSpPr>
          <p:cNvPr id="7" name="Text 4"/>
          <p:cNvSpPr txBox="1"/>
          <p:nvPr/>
        </p:nvSpPr>
        <p:spPr>
          <a:xfrm>
            <a:off x="548640" y="2103120"/>
            <a:ext cx="8229600" cy="137160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Weather Data Analysis System</a:t>
            </a:r>
            <a:endParaRPr lang="en-US" sz="4400" dirty="0"/>
          </a:p>
        </p:txBody>
      </p:sp>
      <p:sp>
        <p:nvSpPr>
          <p:cNvPr id="8" name="Text 5"/>
          <p:cNvSpPr txBox="1"/>
          <p:nvPr/>
        </p:nvSpPr>
        <p:spPr>
          <a:xfrm>
            <a:off x="548640" y="3474720"/>
            <a:ext cx="8229600" cy="365760"/>
          </a:xfrm>
          <a:prstGeom prst="rect">
            <a:avLst/>
          </a:prstGeom>
          <a:noFill/>
          <a:ln/>
        </p:spPr>
        <p:txBody>
          <a:bodyPr wrap="square" lIns="0" tIns="0" rIns="0" bIns="0" rtlCol="0" anchor="t"/>
          <a:lstStyle/>
          <a:p>
            <a:pPr indent="0" marL="0">
              <a:buNone/>
            </a:pPr>
            <a:r>
              <a:rPr lang="en-US" sz="1800" dirty="0">
                <a:solidFill>
                  <a:srgbClr val="CADCFC"/>
                </a:solidFill>
                <a:latin typeface="Calibri" pitchFamily="34" charset="0"/>
                <a:ea typeface="Calibri" pitchFamily="34" charset="-122"/>
                <a:cs typeface="Calibri" pitchFamily="34" charset="-120"/>
              </a:rPr>
              <a:t>Daily weather across 10 cities · 2000–2024</a:t>
            </a:r>
            <a:endParaRPr lang="en-US" sz="1800" dirty="0"/>
          </a:p>
        </p:txBody>
      </p:sp>
      <p:sp>
        <p:nvSpPr>
          <p:cNvPr id="9" name="Text 6"/>
          <p:cNvSpPr txBox="1"/>
          <p:nvPr/>
        </p:nvSpPr>
        <p:spPr>
          <a:xfrm>
            <a:off x="548640" y="4297680"/>
            <a:ext cx="3657600" cy="32004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Presented by</a:t>
            </a:r>
            <a:endParaRPr lang="en-US" sz="1300" dirty="0"/>
          </a:p>
        </p:txBody>
      </p:sp>
      <p:sp>
        <p:nvSpPr>
          <p:cNvPr id="10" name="Text 7"/>
          <p:cNvSpPr txBox="1"/>
          <p:nvPr/>
        </p:nvSpPr>
        <p:spPr>
          <a:xfrm>
            <a:off x="548640" y="4663440"/>
            <a:ext cx="2468880" cy="457200"/>
          </a:xfrm>
          <a:prstGeom prst="roundRect">
            <a:avLst>
              <a:gd name="adj" fmla="val 16000"/>
            </a:avLst>
          </a:prstGeom>
          <a:solidFill>
            <a:srgbClr val="1F7A8C"/>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 Raghuram</a:t>
            </a:r>
            <a:endParaRPr lang="en-US" sz="1400" dirty="0"/>
          </a:p>
        </p:txBody>
      </p:sp>
      <p:sp>
        <p:nvSpPr>
          <p:cNvPr id="11" name="Text 8"/>
          <p:cNvSpPr txBox="1"/>
          <p:nvPr/>
        </p:nvSpPr>
        <p:spPr>
          <a:xfrm>
            <a:off x="3154680" y="4663440"/>
            <a:ext cx="2468880" cy="457200"/>
          </a:xfrm>
          <a:prstGeom prst="roundRect">
            <a:avLst>
              <a:gd name="adj" fmla="val 16000"/>
            </a:avLst>
          </a:prstGeom>
          <a:solidFill>
            <a:srgbClr val="1F7A8C"/>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 Abhi Varun Reddy</a:t>
            </a:r>
            <a:endParaRPr lang="en-US" sz="1400" dirty="0"/>
          </a:p>
        </p:txBody>
      </p:sp>
      <p:sp>
        <p:nvSpPr>
          <p:cNvPr id="12" name="Text 9"/>
          <p:cNvSpPr txBox="1"/>
          <p:nvPr/>
        </p:nvSpPr>
        <p:spPr>
          <a:xfrm>
            <a:off x="5760720" y="4663440"/>
            <a:ext cx="2468880" cy="457200"/>
          </a:xfrm>
          <a:prstGeom prst="roundRect">
            <a:avLst>
              <a:gd name="adj" fmla="val 16000"/>
            </a:avLst>
          </a:prstGeom>
          <a:solidFill>
            <a:srgbClr val="1F7A8C"/>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 Shiva Murali Krishna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PROBLEM &amp; OBJECTIVES</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Problem statement</a:t>
            </a:r>
            <a:endParaRPr lang="en-US" sz="3200" dirty="0"/>
          </a:p>
        </p:txBody>
      </p:sp>
      <p:sp>
        <p:nvSpPr>
          <p:cNvPr id="4" name="Shape 2"/>
          <p:cNvSpPr/>
          <p:nvPr/>
        </p:nvSpPr>
        <p:spPr>
          <a:xfrm>
            <a:off x="548640" y="1463040"/>
            <a:ext cx="6583680" cy="4754880"/>
          </a:xfrm>
          <a:prstGeom prst="roundRect">
            <a:avLst>
              <a:gd name="adj" fmla="val 1538"/>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691640"/>
            <a:ext cx="6035040" cy="4389120"/>
          </a:xfrm>
          <a:prstGeom prst="rect">
            <a:avLst/>
          </a:prstGeom>
          <a:noFill/>
          <a:ln/>
        </p:spPr>
        <p:txBody>
          <a:bodyPr wrap="square" lIns="0" tIns="0" rIns="0" bIns="0" rtlCol="0" anchor="ctr"/>
          <a:lstStyle/>
          <a:p>
            <a:pPr indent="0" marL="0">
              <a:buNone/>
            </a:pPr>
            <a:r>
              <a:rPr lang="en-US" sz="1600" dirty="0">
                <a:solidFill>
                  <a:srgbClr val="1F2D3A"/>
                </a:solidFill>
                <a:latin typeface="Calibri" pitchFamily="34" charset="0"/>
                <a:ea typeface="Calibri" pitchFamily="34" charset="-122"/>
                <a:cs typeface="Calibri" pitchFamily="34" charset="-120"/>
              </a:rPr>
              <a:t>Weather affects nearly every aspect of daily life and economic activity: agriculture, transportation, energy demand, disaster preparedness and public health all depend on understanding weather patterns. Raw weather data (temperature, rainfall, humidity, wind speed and more) is collected continuously by meteorological stations, but on its own it is just numbers. The value comes from analyzing it to uncover trends, seasonal patterns and anomalies that can inform decisions. Without systematic analysis, valuable signals such as a gradual warming trend, more extreme rainfall events or predictable seasonal cycles remain hidden in the raw records.</a:t>
            </a:r>
            <a:endParaRPr lang="en-US" sz="1600" dirty="0"/>
          </a:p>
        </p:txBody>
      </p:sp>
      <p:pic>
        <p:nvPicPr>
          <p:cNvPr id="6" name="Image 0" descr="img/a2_1.jpg">    </p:cNvPr>
          <p:cNvPicPr>
            <a:picLocks noChangeAspect="1"/>
          </p:cNvPicPr>
          <p:nvPr/>
        </p:nvPicPr>
        <p:blipFill>
          <a:blip r:embed="rId1"/>
          <a:srcRect l="0" r="0" t="0" b="0"/>
          <a:stretch/>
        </p:blipFill>
        <p:spPr>
          <a:xfrm>
            <a:off x="7406640" y="1463040"/>
            <a:ext cx="4233672" cy="47548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PROBLEM &amp; OBJECTIVES</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Objectives of the project</a:t>
            </a:r>
            <a:endParaRPr lang="en-US" sz="3200" dirty="0"/>
          </a:p>
        </p:txBody>
      </p:sp>
      <p:sp>
        <p:nvSpPr>
          <p:cNvPr id="4" name="Shape 2"/>
          <p:cNvSpPr/>
          <p:nvPr/>
        </p:nvSpPr>
        <p:spPr>
          <a:xfrm>
            <a:off x="548640" y="1463040"/>
            <a:ext cx="11091672" cy="822960"/>
          </a:xfrm>
          <a:prstGeom prst="roundRect">
            <a:avLst>
              <a:gd name="adj" fmla="val 8889"/>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77240" y="1645920"/>
            <a:ext cx="457200" cy="457200"/>
          </a:xfrm>
          <a:prstGeom prst="ellipse">
            <a:avLst/>
          </a:prstGeom>
          <a:solidFill>
            <a:srgbClr val="12263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508760" y="1463040"/>
            <a:ext cx="9875520" cy="822960"/>
          </a:xfrm>
          <a:prstGeom prst="rect">
            <a:avLst/>
          </a:prstGeom>
          <a:noFill/>
          <a:ln/>
        </p:spPr>
        <p:txBody>
          <a:bodyPr wrap="square" lIns="0" tIns="0" rIns="0" bIns="0" rtlCol="0" anchor="ctr"/>
          <a:lstStyle/>
          <a:p>
            <a:pPr indent="0" marL="0">
              <a:buNone/>
            </a:pPr>
            <a:r>
              <a:rPr lang="en-US" sz="1600" dirty="0">
                <a:solidFill>
                  <a:srgbClr val="1F2D3A"/>
                </a:solidFill>
                <a:latin typeface="Calibri" pitchFamily="34" charset="0"/>
                <a:ea typeface="Calibri" pitchFamily="34" charset="-122"/>
                <a:cs typeface="Calibri" pitchFamily="34" charset="-120"/>
              </a:rPr>
              <a:t>Analyze historical weather data to identify long-term trends (e.g., is temperature rising or falling over time?).</a:t>
            </a:r>
            <a:endParaRPr lang="en-US" sz="1600" dirty="0"/>
          </a:p>
        </p:txBody>
      </p:sp>
      <p:sp>
        <p:nvSpPr>
          <p:cNvPr id="7" name="Shape 5"/>
          <p:cNvSpPr/>
          <p:nvPr/>
        </p:nvSpPr>
        <p:spPr>
          <a:xfrm>
            <a:off x="548640" y="2414016"/>
            <a:ext cx="11091672" cy="822960"/>
          </a:xfrm>
          <a:prstGeom prst="roundRect">
            <a:avLst>
              <a:gd name="adj" fmla="val 8889"/>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777240" y="2596896"/>
            <a:ext cx="457200" cy="457200"/>
          </a:xfrm>
          <a:prstGeom prst="ellipse">
            <a:avLst/>
          </a:prstGeom>
          <a:solidFill>
            <a:srgbClr val="1F7A8C"/>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508760" y="2414016"/>
            <a:ext cx="9875520" cy="822960"/>
          </a:xfrm>
          <a:prstGeom prst="rect">
            <a:avLst/>
          </a:prstGeom>
          <a:noFill/>
          <a:ln/>
        </p:spPr>
        <p:txBody>
          <a:bodyPr wrap="square" lIns="0" tIns="0" rIns="0" bIns="0" rtlCol="0" anchor="ctr"/>
          <a:lstStyle/>
          <a:p>
            <a:pPr indent="0" marL="0">
              <a:buNone/>
            </a:pPr>
            <a:r>
              <a:rPr lang="en-US" sz="1600" dirty="0">
                <a:solidFill>
                  <a:srgbClr val="1F2D3A"/>
                </a:solidFill>
                <a:latin typeface="Calibri" pitchFamily="34" charset="0"/>
                <a:ea typeface="Calibri" pitchFamily="34" charset="-122"/>
                <a:cs typeface="Calibri" pitchFamily="34" charset="-120"/>
              </a:rPr>
              <a:t>Identify seasonal and cyclical patterns in temperature, rainfall and other weather variables.</a:t>
            </a:r>
            <a:endParaRPr lang="en-US" sz="1600" dirty="0"/>
          </a:p>
        </p:txBody>
      </p:sp>
      <p:sp>
        <p:nvSpPr>
          <p:cNvPr id="10" name="Shape 8"/>
          <p:cNvSpPr/>
          <p:nvPr/>
        </p:nvSpPr>
        <p:spPr>
          <a:xfrm>
            <a:off x="548640" y="3364992"/>
            <a:ext cx="11091672" cy="822960"/>
          </a:xfrm>
          <a:prstGeom prst="roundRect">
            <a:avLst>
              <a:gd name="adj" fmla="val 8889"/>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777240" y="3547872"/>
            <a:ext cx="457200" cy="457200"/>
          </a:xfrm>
          <a:prstGeom prst="ellipse">
            <a:avLst/>
          </a:prstGeom>
          <a:solidFill>
            <a:srgbClr val="12263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1508760" y="3364992"/>
            <a:ext cx="9875520" cy="822960"/>
          </a:xfrm>
          <a:prstGeom prst="rect">
            <a:avLst/>
          </a:prstGeom>
          <a:noFill/>
          <a:ln/>
        </p:spPr>
        <p:txBody>
          <a:bodyPr wrap="square" lIns="0" tIns="0" rIns="0" bIns="0" rtlCol="0" anchor="ctr"/>
          <a:lstStyle/>
          <a:p>
            <a:pPr indent="0" marL="0">
              <a:buNone/>
            </a:pPr>
            <a:r>
              <a:rPr lang="en-US" sz="1600" dirty="0">
                <a:solidFill>
                  <a:srgbClr val="1F2D3A"/>
                </a:solidFill>
                <a:latin typeface="Calibri" pitchFamily="34" charset="0"/>
                <a:ea typeface="Calibri" pitchFamily="34" charset="-122"/>
                <a:cs typeface="Calibri" pitchFamily="34" charset="-120"/>
              </a:rPr>
              <a:t>Detect anomalies and extreme weather events within the historical record.</a:t>
            </a:r>
            <a:endParaRPr lang="en-US" sz="1600" dirty="0"/>
          </a:p>
        </p:txBody>
      </p:sp>
      <p:sp>
        <p:nvSpPr>
          <p:cNvPr id="13" name="Shape 11"/>
          <p:cNvSpPr/>
          <p:nvPr/>
        </p:nvSpPr>
        <p:spPr>
          <a:xfrm>
            <a:off x="548640" y="4315968"/>
            <a:ext cx="11091672" cy="822960"/>
          </a:xfrm>
          <a:prstGeom prst="roundRect">
            <a:avLst>
              <a:gd name="adj" fmla="val 8889"/>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777240" y="4498848"/>
            <a:ext cx="457200" cy="457200"/>
          </a:xfrm>
          <a:prstGeom prst="ellipse">
            <a:avLst/>
          </a:prstGeom>
          <a:solidFill>
            <a:srgbClr val="1F7A8C"/>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txBox="1"/>
          <p:nvPr/>
        </p:nvSpPr>
        <p:spPr>
          <a:xfrm>
            <a:off x="1508760" y="4315968"/>
            <a:ext cx="9875520" cy="822960"/>
          </a:xfrm>
          <a:prstGeom prst="rect">
            <a:avLst/>
          </a:prstGeom>
          <a:noFill/>
          <a:ln/>
        </p:spPr>
        <p:txBody>
          <a:bodyPr wrap="square" lIns="0" tIns="0" rIns="0" bIns="0" rtlCol="0" anchor="ctr"/>
          <a:lstStyle/>
          <a:p>
            <a:pPr indent="0" marL="0">
              <a:buNone/>
            </a:pPr>
            <a:r>
              <a:rPr lang="en-US" sz="1600" dirty="0">
                <a:solidFill>
                  <a:srgbClr val="1F2D3A"/>
                </a:solidFill>
                <a:latin typeface="Calibri" pitchFamily="34" charset="0"/>
                <a:ea typeface="Calibri" pitchFamily="34" charset="-122"/>
                <a:cs typeface="Calibri" pitchFamily="34" charset="-120"/>
              </a:rPr>
              <a:t>Visualize patterns and relationships between weather variables in an interpretable way.</a:t>
            </a:r>
            <a:endParaRPr lang="en-US" sz="1600" dirty="0"/>
          </a:p>
        </p:txBody>
      </p:sp>
      <p:sp>
        <p:nvSpPr>
          <p:cNvPr id="16" name="Shape 14"/>
          <p:cNvSpPr/>
          <p:nvPr/>
        </p:nvSpPr>
        <p:spPr>
          <a:xfrm>
            <a:off x="548640" y="5266944"/>
            <a:ext cx="11091672" cy="822960"/>
          </a:xfrm>
          <a:prstGeom prst="roundRect">
            <a:avLst>
              <a:gd name="adj" fmla="val 8889"/>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777240" y="5449824"/>
            <a:ext cx="457200" cy="457200"/>
          </a:xfrm>
          <a:prstGeom prst="ellipse">
            <a:avLst/>
          </a:prstGeom>
          <a:solidFill>
            <a:srgbClr val="12263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txBox="1"/>
          <p:nvPr/>
        </p:nvSpPr>
        <p:spPr>
          <a:xfrm>
            <a:off x="1508760" y="5266944"/>
            <a:ext cx="9875520" cy="822960"/>
          </a:xfrm>
          <a:prstGeom prst="rect">
            <a:avLst/>
          </a:prstGeom>
          <a:noFill/>
          <a:ln/>
        </p:spPr>
        <p:txBody>
          <a:bodyPr wrap="square" lIns="0" tIns="0" rIns="0" bIns="0" rtlCol="0" anchor="ctr"/>
          <a:lstStyle/>
          <a:p>
            <a:pPr indent="0" marL="0">
              <a:buNone/>
            </a:pPr>
            <a:r>
              <a:rPr lang="en-US" sz="1600" dirty="0">
                <a:solidFill>
                  <a:srgbClr val="1F2D3A"/>
                </a:solidFill>
                <a:latin typeface="Calibri" pitchFamily="34" charset="0"/>
                <a:ea typeface="Calibri" pitchFamily="34" charset="-122"/>
                <a:cs typeface="Calibri" pitchFamily="34" charset="-120"/>
              </a:rPr>
              <a:t>Build a simple predictive model, e.g. forecasting temperature or classifying rainy vs. dry days, using the cleaned dataset.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DATASET</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Dataset selection &amp; understanding</a:t>
            </a:r>
            <a:endParaRPr lang="en-US" sz="3200" dirty="0"/>
          </a:p>
        </p:txBody>
      </p:sp>
      <p:sp>
        <p:nvSpPr>
          <p:cNvPr id="4" name="Shape 2"/>
          <p:cNvSpPr/>
          <p:nvPr/>
        </p:nvSpPr>
        <p:spPr>
          <a:xfrm>
            <a:off x="548640" y="1463040"/>
            <a:ext cx="5449824" cy="2194560"/>
          </a:xfrm>
          <a:prstGeom prst="roundRect">
            <a:avLst>
              <a:gd name="adj" fmla="val 3333"/>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737360"/>
            <a:ext cx="457200" cy="457200"/>
          </a:xfrm>
          <a:prstGeom prst="ellipse">
            <a:avLst/>
          </a:prstGeom>
          <a:solidFill>
            <a:srgbClr val="F28C2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463040" y="1737360"/>
            <a:ext cx="4297680" cy="457200"/>
          </a:xfrm>
          <a:prstGeom prst="rect">
            <a:avLst/>
          </a:prstGeom>
          <a:noFill/>
          <a:ln/>
        </p:spPr>
        <p:txBody>
          <a:bodyPr wrap="square" lIns="0" tIns="0" rIns="0" bIns="0" rtlCol="0" anchor="ctr"/>
          <a:lstStyle/>
          <a:p>
            <a:pPr indent="0" marL="0">
              <a:buNone/>
            </a:pPr>
            <a:r>
              <a:rPr lang="en-US" sz="1900" b="1" dirty="0">
                <a:solidFill>
                  <a:srgbClr val="12263F"/>
                </a:solidFill>
                <a:latin typeface="Cambria" pitchFamily="34" charset="0"/>
                <a:ea typeface="Cambria" pitchFamily="34" charset="-122"/>
                <a:cs typeface="Cambria" pitchFamily="34" charset="-120"/>
              </a:rPr>
              <a:t>Time-series structure</a:t>
            </a:r>
            <a:endParaRPr lang="en-US" sz="1900" dirty="0"/>
          </a:p>
        </p:txBody>
      </p:sp>
      <p:sp>
        <p:nvSpPr>
          <p:cNvPr id="7" name="Text 5"/>
          <p:cNvSpPr txBox="1"/>
          <p:nvPr/>
        </p:nvSpPr>
        <p:spPr>
          <a:xfrm>
            <a:off x="822960" y="2377440"/>
            <a:ext cx="4937760" cy="1097280"/>
          </a:xfrm>
          <a:prstGeom prst="rect">
            <a:avLst/>
          </a:prstGeom>
          <a:noFill/>
          <a:ln/>
        </p:spPr>
        <p:txBody>
          <a:bodyPr wrap="square" lIns="0" tIns="0" rIns="0" bIns="0" rtlCol="0" anchor="t"/>
          <a:lstStyle/>
          <a:p>
            <a:pPr indent="0" marL="0">
              <a:buNone/>
            </a:pPr>
            <a:r>
              <a:rPr lang="en-US" sz="1600" dirty="0">
                <a:solidFill>
                  <a:srgbClr val="1F2D3A"/>
                </a:solidFill>
                <a:latin typeface="Calibri" pitchFamily="34" charset="0"/>
                <a:ea typeface="Calibri" pitchFamily="34" charset="-122"/>
                <a:cs typeface="Calibri" pitchFamily="34" charset="-120"/>
              </a:rPr>
              <a:t>Supports trend and seasonality analysis rather than just static snapshots.</a:t>
            </a:r>
            <a:endParaRPr lang="en-US" sz="1600" dirty="0"/>
          </a:p>
        </p:txBody>
      </p:sp>
      <p:sp>
        <p:nvSpPr>
          <p:cNvPr id="8" name="Shape 6"/>
          <p:cNvSpPr/>
          <p:nvPr/>
        </p:nvSpPr>
        <p:spPr>
          <a:xfrm>
            <a:off x="6190488" y="1463040"/>
            <a:ext cx="5449824" cy="2194560"/>
          </a:xfrm>
          <a:prstGeom prst="roundRect">
            <a:avLst>
              <a:gd name="adj" fmla="val 3333"/>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6464808" y="1737360"/>
            <a:ext cx="457200" cy="457200"/>
          </a:xfrm>
          <a:prstGeom prst="ellipse">
            <a:avLst/>
          </a:prstGeom>
          <a:solidFill>
            <a:srgbClr val="1F7A8C"/>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7104888" y="1737360"/>
            <a:ext cx="4297680" cy="457200"/>
          </a:xfrm>
          <a:prstGeom prst="rect">
            <a:avLst/>
          </a:prstGeom>
          <a:noFill/>
          <a:ln/>
        </p:spPr>
        <p:txBody>
          <a:bodyPr wrap="square" lIns="0" tIns="0" rIns="0" bIns="0" rtlCol="0" anchor="ctr"/>
          <a:lstStyle/>
          <a:p>
            <a:pPr indent="0" marL="0">
              <a:buNone/>
            </a:pPr>
            <a:r>
              <a:rPr lang="en-US" sz="1900" b="1" dirty="0">
                <a:solidFill>
                  <a:srgbClr val="12263F"/>
                </a:solidFill>
                <a:latin typeface="Cambria" pitchFamily="34" charset="0"/>
                <a:ea typeface="Cambria" pitchFamily="34" charset="-122"/>
                <a:cs typeface="Cambria" pitchFamily="34" charset="-120"/>
              </a:rPr>
              <a:t>Multiple correlated variables</a:t>
            </a:r>
            <a:endParaRPr lang="en-US" sz="1900" dirty="0"/>
          </a:p>
        </p:txBody>
      </p:sp>
      <p:sp>
        <p:nvSpPr>
          <p:cNvPr id="11" name="Text 9"/>
          <p:cNvSpPr txBox="1"/>
          <p:nvPr/>
        </p:nvSpPr>
        <p:spPr>
          <a:xfrm>
            <a:off x="6464808" y="2377440"/>
            <a:ext cx="4937760" cy="1097280"/>
          </a:xfrm>
          <a:prstGeom prst="rect">
            <a:avLst/>
          </a:prstGeom>
          <a:noFill/>
          <a:ln/>
        </p:spPr>
        <p:txBody>
          <a:bodyPr wrap="square" lIns="0" tIns="0" rIns="0" bIns="0" rtlCol="0" anchor="t"/>
          <a:lstStyle/>
          <a:p>
            <a:pPr indent="0" marL="0">
              <a:buNone/>
            </a:pPr>
            <a:r>
              <a:rPr lang="en-US" sz="1600" dirty="0">
                <a:solidFill>
                  <a:srgbClr val="1F2D3A"/>
                </a:solidFill>
                <a:latin typeface="Calibri" pitchFamily="34" charset="0"/>
                <a:ea typeface="Calibri" pitchFamily="34" charset="-122"/>
                <a:cs typeface="Calibri" pitchFamily="34" charset="-120"/>
              </a:rPr>
              <a:t>Min, max and mean temperature, rainfall, wind and more enable analysis of relationships between variables.</a:t>
            </a:r>
            <a:endParaRPr lang="en-US" sz="1600" dirty="0"/>
          </a:p>
        </p:txBody>
      </p:sp>
      <p:sp>
        <p:nvSpPr>
          <p:cNvPr id="12" name="Shape 10"/>
          <p:cNvSpPr/>
          <p:nvPr/>
        </p:nvSpPr>
        <p:spPr>
          <a:xfrm>
            <a:off x="548640" y="3886200"/>
            <a:ext cx="5449824" cy="2194560"/>
          </a:xfrm>
          <a:prstGeom prst="roundRect">
            <a:avLst>
              <a:gd name="adj" fmla="val 3333"/>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822960" y="4160520"/>
            <a:ext cx="457200" cy="457200"/>
          </a:xfrm>
          <a:prstGeom prst="ellipse">
            <a:avLst/>
          </a:prstGeom>
          <a:solidFill>
            <a:srgbClr val="12263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463040" y="4160520"/>
            <a:ext cx="4297680" cy="457200"/>
          </a:xfrm>
          <a:prstGeom prst="rect">
            <a:avLst/>
          </a:prstGeom>
          <a:noFill/>
          <a:ln/>
        </p:spPr>
        <p:txBody>
          <a:bodyPr wrap="square" lIns="0" tIns="0" rIns="0" bIns="0" rtlCol="0" anchor="ctr"/>
          <a:lstStyle/>
          <a:p>
            <a:pPr indent="0" marL="0">
              <a:buNone/>
            </a:pPr>
            <a:r>
              <a:rPr lang="en-US" sz="1900" b="1" dirty="0">
                <a:solidFill>
                  <a:srgbClr val="12263F"/>
                </a:solidFill>
                <a:latin typeface="Cambria" pitchFamily="34" charset="0"/>
                <a:ea typeface="Cambria" pitchFamily="34" charset="-122"/>
                <a:cs typeface="Cambria" pitchFamily="34" charset="-120"/>
              </a:rPr>
              <a:t>Statistically meaningful size</a:t>
            </a:r>
            <a:endParaRPr lang="en-US" sz="1900" dirty="0"/>
          </a:p>
        </p:txBody>
      </p:sp>
      <p:sp>
        <p:nvSpPr>
          <p:cNvPr id="15" name="Text 13"/>
          <p:cNvSpPr txBox="1"/>
          <p:nvPr/>
        </p:nvSpPr>
        <p:spPr>
          <a:xfrm>
            <a:off x="822960" y="4800600"/>
            <a:ext cx="4937760" cy="1097280"/>
          </a:xfrm>
          <a:prstGeom prst="rect">
            <a:avLst/>
          </a:prstGeom>
          <a:noFill/>
          <a:ln/>
        </p:spPr>
        <p:txBody>
          <a:bodyPr wrap="square" lIns="0" tIns="0" rIns="0" bIns="0" rtlCol="0" anchor="t"/>
          <a:lstStyle/>
          <a:p>
            <a:pPr indent="0" marL="0">
              <a:buNone/>
            </a:pPr>
            <a:r>
              <a:rPr lang="en-US" sz="1600" dirty="0">
                <a:solidFill>
                  <a:srgbClr val="1F2D3A"/>
                </a:solidFill>
                <a:latin typeface="Calibri" pitchFamily="34" charset="0"/>
                <a:ea typeface="Calibri" pitchFamily="34" charset="-122"/>
                <a:cs typeface="Calibri" pitchFamily="34" charset="-120"/>
              </a:rPr>
              <a:t>Large enough to be meaningful, yet still manageable as a single CSV file for cleaning, exploration and modeling.</a:t>
            </a:r>
            <a:endParaRPr lang="en-US" sz="1600" dirty="0"/>
          </a:p>
        </p:txBody>
      </p:sp>
      <p:sp>
        <p:nvSpPr>
          <p:cNvPr id="16" name="Shape 14"/>
          <p:cNvSpPr/>
          <p:nvPr/>
        </p:nvSpPr>
        <p:spPr>
          <a:xfrm>
            <a:off x="6190488" y="3886200"/>
            <a:ext cx="5449824" cy="2194560"/>
          </a:xfrm>
          <a:prstGeom prst="roundRect">
            <a:avLst>
              <a:gd name="adj" fmla="val 3333"/>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6464808" y="4160520"/>
            <a:ext cx="457200" cy="457200"/>
          </a:xfrm>
          <a:prstGeom prst="ellipse">
            <a:avLst/>
          </a:prstGeom>
          <a:solidFill>
            <a:srgbClr val="A26769"/>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7104888" y="4160520"/>
            <a:ext cx="4297680" cy="457200"/>
          </a:xfrm>
          <a:prstGeom prst="rect">
            <a:avLst/>
          </a:prstGeom>
          <a:noFill/>
          <a:ln/>
        </p:spPr>
        <p:txBody>
          <a:bodyPr wrap="square" lIns="0" tIns="0" rIns="0" bIns="0" rtlCol="0" anchor="ctr"/>
          <a:lstStyle/>
          <a:p>
            <a:pPr indent="0" marL="0">
              <a:buNone/>
            </a:pPr>
            <a:r>
              <a:rPr lang="en-US" sz="1900" b="1" dirty="0">
                <a:solidFill>
                  <a:srgbClr val="12263F"/>
                </a:solidFill>
                <a:latin typeface="Cambria" pitchFamily="34" charset="0"/>
                <a:ea typeface="Cambria" pitchFamily="34" charset="-122"/>
                <a:cs typeface="Cambria" pitchFamily="34" charset="-120"/>
              </a:rPr>
              <a:t>Public and well-documented</a:t>
            </a:r>
            <a:endParaRPr lang="en-US" sz="1900" dirty="0"/>
          </a:p>
        </p:txBody>
      </p:sp>
      <p:sp>
        <p:nvSpPr>
          <p:cNvPr id="19" name="Text 17"/>
          <p:cNvSpPr txBox="1"/>
          <p:nvPr/>
        </p:nvSpPr>
        <p:spPr>
          <a:xfrm>
            <a:off x="6464808" y="4800600"/>
            <a:ext cx="4937760" cy="1097280"/>
          </a:xfrm>
          <a:prstGeom prst="rect">
            <a:avLst/>
          </a:prstGeom>
          <a:noFill/>
          <a:ln/>
        </p:spPr>
        <p:txBody>
          <a:bodyPr wrap="square" lIns="0" tIns="0" rIns="0" bIns="0" rtlCol="0" anchor="t"/>
          <a:lstStyle/>
          <a:p>
            <a:pPr indent="0" marL="0">
              <a:buNone/>
            </a:pPr>
            <a:r>
              <a:rPr lang="en-US" sz="1600" dirty="0">
                <a:solidFill>
                  <a:srgbClr val="1F2D3A"/>
                </a:solidFill>
                <a:latin typeface="Calibri" pitchFamily="34" charset="0"/>
                <a:ea typeface="Calibri" pitchFamily="34" charset="-122"/>
                <a:cs typeface="Calibri" pitchFamily="34" charset="-120"/>
              </a:rPr>
              <a:t>Publicly available, so the data provenance and collection methodology are transparent.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DATASET</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Where the data comes from</a:t>
            </a:r>
            <a:endParaRPr lang="en-US" sz="3200" dirty="0"/>
          </a:p>
        </p:txBody>
      </p:sp>
      <p:sp>
        <p:nvSpPr>
          <p:cNvPr id="4" name="Shape 2"/>
          <p:cNvSpPr/>
          <p:nvPr/>
        </p:nvSpPr>
        <p:spPr>
          <a:xfrm>
            <a:off x="548640" y="1463040"/>
            <a:ext cx="3502152" cy="4754880"/>
          </a:xfrm>
          <a:prstGeom prst="roundRect">
            <a:avLst>
              <a:gd name="adj" fmla="val 2089"/>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783080"/>
            <a:ext cx="548640" cy="548640"/>
          </a:xfrm>
          <a:prstGeom prst="ellipse">
            <a:avLst/>
          </a:prstGeom>
          <a:solidFill>
            <a:srgbClr val="12263F"/>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822960" y="2606040"/>
            <a:ext cx="2926080" cy="457200"/>
          </a:xfrm>
          <a:prstGeom prst="rect">
            <a:avLst/>
          </a:prstGeom>
          <a:noFill/>
          <a:ln/>
        </p:spPr>
        <p:txBody>
          <a:bodyPr wrap="square" lIns="0" tIns="0" rIns="0" bIns="0" rtlCol="0" anchor="t"/>
          <a:lstStyle/>
          <a:p>
            <a:pPr indent="0" marL="0">
              <a:buNone/>
            </a:pPr>
            <a:r>
              <a:rPr lang="en-US" sz="2200" b="1" dirty="0">
                <a:solidFill>
                  <a:srgbClr val="12263F"/>
                </a:solidFill>
                <a:latin typeface="Cambria" pitchFamily="34" charset="0"/>
                <a:ea typeface="Cambria" pitchFamily="34" charset="-122"/>
                <a:cs typeface="Cambria" pitchFamily="34" charset="-120"/>
              </a:rPr>
              <a:t>Source</a:t>
            </a:r>
            <a:endParaRPr lang="en-US" sz="2200" dirty="0"/>
          </a:p>
        </p:txBody>
      </p:sp>
      <p:sp>
        <p:nvSpPr>
          <p:cNvPr id="7" name="Text 5"/>
          <p:cNvSpPr txBox="1"/>
          <p:nvPr/>
        </p:nvSpPr>
        <p:spPr>
          <a:xfrm>
            <a:off x="822960" y="3200400"/>
            <a:ext cx="2971800" cy="2743200"/>
          </a:xfrm>
          <a:prstGeom prst="rect">
            <a:avLst/>
          </a:prstGeom>
          <a:noFill/>
          <a:ln/>
        </p:spPr>
        <p:txBody>
          <a:bodyPr wrap="square" lIns="0" tIns="0" rIns="0" bIns="0" rtlCol="0" anchor="t"/>
          <a:lstStyle/>
          <a:p>
            <a:pPr indent="0" marL="0">
              <a:buNone/>
            </a:pPr>
            <a:r>
              <a:rPr lang="en-US" sz="1600" dirty="0">
                <a:solidFill>
                  <a:srgbClr val="1F2D3A"/>
                </a:solidFill>
                <a:latin typeface="Calibri" pitchFamily="34" charset="0"/>
                <a:ea typeface="Calibri" pitchFamily="34" charset="-122"/>
                <a:cs typeface="Calibri" pitchFamily="34" charset="-120"/>
              </a:rPr>
              <a:t>The dataset is sourced through Kaggle.</a:t>
            </a:r>
            <a:endParaRPr lang="en-US" sz="1600" dirty="0"/>
          </a:p>
        </p:txBody>
      </p:sp>
      <p:sp>
        <p:nvSpPr>
          <p:cNvPr id="8" name="Shape 6"/>
          <p:cNvSpPr/>
          <p:nvPr/>
        </p:nvSpPr>
        <p:spPr>
          <a:xfrm>
            <a:off x="4343400" y="1463040"/>
            <a:ext cx="3502152" cy="4754880"/>
          </a:xfrm>
          <a:prstGeom prst="roundRect">
            <a:avLst>
              <a:gd name="adj" fmla="val 2089"/>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4617720" y="1783080"/>
            <a:ext cx="548640" cy="548640"/>
          </a:xfrm>
          <a:prstGeom prst="ellipse">
            <a:avLst/>
          </a:prstGeom>
          <a:solidFill>
            <a:srgbClr val="1F7A8C"/>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4617720" y="2606040"/>
            <a:ext cx="2926080" cy="457200"/>
          </a:xfrm>
          <a:prstGeom prst="rect">
            <a:avLst/>
          </a:prstGeom>
          <a:noFill/>
          <a:ln/>
        </p:spPr>
        <p:txBody>
          <a:bodyPr wrap="square" lIns="0" tIns="0" rIns="0" bIns="0" rtlCol="0" anchor="t"/>
          <a:lstStyle/>
          <a:p>
            <a:pPr indent="0" marL="0">
              <a:buNone/>
            </a:pPr>
            <a:r>
              <a:rPr lang="en-US" sz="2200" b="1" dirty="0">
                <a:solidFill>
                  <a:srgbClr val="12263F"/>
                </a:solidFill>
                <a:latin typeface="Cambria" pitchFamily="34" charset="0"/>
                <a:ea typeface="Cambria" pitchFamily="34" charset="-122"/>
                <a:cs typeface="Cambria" pitchFamily="34" charset="-120"/>
              </a:rPr>
              <a:t>Coverage</a:t>
            </a:r>
            <a:endParaRPr lang="en-US" sz="2200" dirty="0"/>
          </a:p>
        </p:txBody>
      </p:sp>
      <p:sp>
        <p:nvSpPr>
          <p:cNvPr id="11" name="Text 9"/>
          <p:cNvSpPr txBox="1"/>
          <p:nvPr/>
        </p:nvSpPr>
        <p:spPr>
          <a:xfrm>
            <a:off x="4617720" y="3200400"/>
            <a:ext cx="2971800" cy="2743200"/>
          </a:xfrm>
          <a:prstGeom prst="rect">
            <a:avLst/>
          </a:prstGeom>
          <a:noFill/>
          <a:ln/>
        </p:spPr>
        <p:txBody>
          <a:bodyPr wrap="square" lIns="0" tIns="0" rIns="0" bIns="0" rtlCol="0" anchor="t"/>
          <a:lstStyle/>
          <a:p>
            <a:pPr indent="0" marL="0">
              <a:buNone/>
            </a:pPr>
            <a:r>
              <a:rPr lang="en-US" sz="1600" dirty="0">
                <a:solidFill>
                  <a:srgbClr val="1F2D3A"/>
                </a:solidFill>
                <a:latin typeface="Calibri" pitchFamily="34" charset="0"/>
                <a:ea typeface="Calibri" pitchFamily="34" charset="-122"/>
                <a:cs typeface="Calibri" pitchFamily="34" charset="-120"/>
              </a:rPr>
              <a:t>Historical weather data of India from the year 2000 to 2024.</a:t>
            </a:r>
            <a:endParaRPr lang="en-US" sz="1600" dirty="0"/>
          </a:p>
        </p:txBody>
      </p:sp>
      <p:sp>
        <p:nvSpPr>
          <p:cNvPr id="12" name="Shape 10"/>
          <p:cNvSpPr/>
          <p:nvPr/>
        </p:nvSpPr>
        <p:spPr>
          <a:xfrm>
            <a:off x="8138160" y="1463040"/>
            <a:ext cx="3502152" cy="4754880"/>
          </a:xfrm>
          <a:prstGeom prst="roundRect">
            <a:avLst>
              <a:gd name="adj" fmla="val 2089"/>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8412480" y="1783080"/>
            <a:ext cx="548640" cy="548640"/>
          </a:xfrm>
          <a:prstGeom prst="ellipse">
            <a:avLst/>
          </a:prstGeom>
          <a:solidFill>
            <a:srgbClr val="F28C28"/>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txBox="1"/>
          <p:nvPr/>
        </p:nvSpPr>
        <p:spPr>
          <a:xfrm>
            <a:off x="8412480" y="2606040"/>
            <a:ext cx="2926080" cy="457200"/>
          </a:xfrm>
          <a:prstGeom prst="rect">
            <a:avLst/>
          </a:prstGeom>
          <a:noFill/>
          <a:ln/>
        </p:spPr>
        <p:txBody>
          <a:bodyPr wrap="square" lIns="0" tIns="0" rIns="0" bIns="0" rtlCol="0" anchor="t"/>
          <a:lstStyle/>
          <a:p>
            <a:pPr indent="0" marL="0">
              <a:buNone/>
            </a:pPr>
            <a:r>
              <a:rPr lang="en-US" sz="2200" b="1" dirty="0">
                <a:solidFill>
                  <a:srgbClr val="12263F"/>
                </a:solidFill>
                <a:latin typeface="Cambria" pitchFamily="34" charset="0"/>
                <a:ea typeface="Cambria" pitchFamily="34" charset="-122"/>
                <a:cs typeface="Cambria" pitchFamily="34" charset="-120"/>
              </a:rPr>
              <a:t>Origin</a:t>
            </a:r>
            <a:endParaRPr lang="en-US" sz="2200" dirty="0"/>
          </a:p>
        </p:txBody>
      </p:sp>
      <p:sp>
        <p:nvSpPr>
          <p:cNvPr id="15" name="Text 13"/>
          <p:cNvSpPr txBox="1"/>
          <p:nvPr/>
        </p:nvSpPr>
        <p:spPr>
          <a:xfrm>
            <a:off x="8412480" y="3200400"/>
            <a:ext cx="2971800" cy="2743200"/>
          </a:xfrm>
          <a:prstGeom prst="rect">
            <a:avLst/>
          </a:prstGeom>
          <a:noFill/>
          <a:ln/>
        </p:spPr>
        <p:txBody>
          <a:bodyPr wrap="square" lIns="0" tIns="0" rIns="0" bIns="0" rtlCol="0" anchor="t"/>
          <a:lstStyle/>
          <a:p>
            <a:pPr indent="0" marL="0">
              <a:buNone/>
            </a:pPr>
            <a:r>
              <a:rPr lang="en-US" sz="1600" dirty="0">
                <a:solidFill>
                  <a:srgbClr val="1F2D3A"/>
                </a:solidFill>
                <a:latin typeface="Calibri" pitchFamily="34" charset="0"/>
                <a:ea typeface="Calibri" pitchFamily="34" charset="-122"/>
                <a:cs typeface="Calibri" pitchFamily="34" charset="-120"/>
              </a:rPr>
              <a:t>The original Kaggle dataset was sourced using the OpenMeteo API, a free and reliable weather data API that provides historical climate data for global locations.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DATASET</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Features of the dataset</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011680"/>
                <a:gridCol w="4206240"/>
                <a:gridCol w="4873752"/>
              </a:tblGrid>
              <a:tr h="5029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Feature</a:t>
                      </a:r>
                      <a:endParaRPr lang="en-US" sz="13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1F7A8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Description</a:t>
                      </a:r>
                      <a:endParaRPr lang="en-US" sz="13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1F7A8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Significance</a:t>
                      </a:r>
                      <a:endParaRPr lang="en-US" sz="13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1F7A8C"/>
                    </a:solidFill>
                  </a:tcPr>
                </a:tc>
              </a:tr>
              <a:tr h="502920">
                <a:tc>
                  <a:txBody>
                    <a:bodyPr/>
                    <a:lstStyle/>
                    <a:p>
                      <a:pPr indent="0" marL="0">
                        <a:buNone/>
                      </a:pPr>
                      <a:r>
                        <a:rPr lang="en-US" sz="1200" b="1" dirty="0">
                          <a:solidFill>
                            <a:srgbClr val="1F2D3A"/>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FFFFFF"/>
                    </a:solidFill>
                  </a:tcPr>
                </a:tc>
                <a:tc>
                  <a:txBody>
                    <a:bodyPr/>
                    <a:lstStyle/>
                    <a:p>
                      <a:pPr indent="0" marL="0">
                        <a:buNone/>
                      </a:pPr>
                      <a:r>
                        <a:rPr lang="en-US" sz="1200" dirty="0">
                          <a:solidFill>
                            <a:srgbClr val="1F2D3A"/>
                          </a:solidFill>
                          <a:latin typeface="Calibri" pitchFamily="34" charset="0"/>
                          <a:ea typeface="Calibri" pitchFamily="34" charset="-122"/>
                          <a:cs typeface="Calibri" pitchFamily="34" charset="-120"/>
                        </a:rPr>
                        <a:t>Date of the observation</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FFFFFF"/>
                    </a:solidFill>
                  </a:tcPr>
                </a:tc>
                <a:tc>
                  <a:txBody>
                    <a:bodyPr/>
                    <a:lstStyle/>
                    <a:p>
                      <a:pPr indent="0" marL="0">
                        <a:buNone/>
                      </a:pPr>
                      <a:r>
                        <a:rPr lang="en-US" sz="1200" dirty="0">
                          <a:solidFill>
                            <a:srgbClr val="1F2D3A"/>
                          </a:solidFill>
                          <a:latin typeface="Calibri" pitchFamily="34" charset="0"/>
                          <a:ea typeface="Calibri" pitchFamily="34" charset="-122"/>
                          <a:cs typeface="Calibri" pitchFamily="34" charset="-120"/>
                        </a:rPr>
                        <a:t>Enables time-series analysis and trend extraction</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F2D3A"/>
                          </a:solidFill>
                          <a:latin typeface="Calibri" pitchFamily="34" charset="0"/>
                          <a:ea typeface="Calibri" pitchFamily="34" charset="-122"/>
                          <a:cs typeface="Calibri" pitchFamily="34" charset="-120"/>
                        </a:rPr>
                        <a:t>Max Temperature</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E4EFF2"/>
                    </a:solidFill>
                  </a:tcPr>
                </a:tc>
                <a:tc>
                  <a:txBody>
                    <a:bodyPr/>
                    <a:lstStyle/>
                    <a:p>
                      <a:pPr indent="0" marL="0">
                        <a:buNone/>
                      </a:pPr>
                      <a:r>
                        <a:rPr lang="en-US" sz="1200" dirty="0">
                          <a:solidFill>
                            <a:srgbClr val="1F2D3A"/>
                          </a:solidFill>
                          <a:latin typeface="Calibri" pitchFamily="34" charset="0"/>
                          <a:ea typeface="Calibri" pitchFamily="34" charset="-122"/>
                          <a:cs typeface="Calibri" pitchFamily="34" charset="-120"/>
                        </a:rPr>
                        <a:t>Highest temperature recorded during the day (°C)</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E4EFF2"/>
                    </a:solidFill>
                  </a:tcPr>
                </a:tc>
                <a:tc>
                  <a:txBody>
                    <a:bodyPr/>
                    <a:lstStyle/>
                    <a:p>
                      <a:pPr indent="0" marL="0">
                        <a:buNone/>
                      </a:pPr>
                      <a:r>
                        <a:rPr lang="en-US" sz="1200" dirty="0">
                          <a:solidFill>
                            <a:srgbClr val="1F2D3A"/>
                          </a:solidFill>
                          <a:latin typeface="Calibri" pitchFamily="34" charset="0"/>
                          <a:ea typeface="Calibri" pitchFamily="34" charset="-122"/>
                          <a:cs typeface="Calibri" pitchFamily="34" charset="-120"/>
                        </a:rPr>
                        <a:t>Key indicator of daytime heat; used to detect heat waves and warming trends</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E4EFF2"/>
                    </a:solidFill>
                  </a:tcPr>
                </a:tc>
              </a:tr>
              <a:tr h="502920">
                <a:tc>
                  <a:txBody>
                    <a:bodyPr/>
                    <a:lstStyle/>
                    <a:p>
                      <a:pPr indent="0" marL="0">
                        <a:buNone/>
                      </a:pPr>
                      <a:r>
                        <a:rPr lang="en-US" sz="1200" b="1" dirty="0">
                          <a:solidFill>
                            <a:srgbClr val="1F2D3A"/>
                          </a:solidFill>
                          <a:latin typeface="Calibri" pitchFamily="34" charset="0"/>
                          <a:ea typeface="Calibri" pitchFamily="34" charset="-122"/>
                          <a:cs typeface="Calibri" pitchFamily="34" charset="-120"/>
                        </a:rPr>
                        <a:t>Min Temperature</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FFFFFF"/>
                    </a:solidFill>
                  </a:tcPr>
                </a:tc>
                <a:tc>
                  <a:txBody>
                    <a:bodyPr/>
                    <a:lstStyle/>
                    <a:p>
                      <a:pPr indent="0" marL="0">
                        <a:buNone/>
                      </a:pPr>
                      <a:r>
                        <a:rPr lang="en-US" sz="1200" dirty="0">
                          <a:solidFill>
                            <a:srgbClr val="1F2D3A"/>
                          </a:solidFill>
                          <a:latin typeface="Calibri" pitchFamily="34" charset="0"/>
                          <a:ea typeface="Calibri" pitchFamily="34" charset="-122"/>
                          <a:cs typeface="Calibri" pitchFamily="34" charset="-120"/>
                        </a:rPr>
                        <a:t>Lowest temperature of the day, typically overnight (°C)</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FFFFFF"/>
                    </a:solidFill>
                  </a:tcPr>
                </a:tc>
                <a:tc>
                  <a:txBody>
                    <a:bodyPr/>
                    <a:lstStyle/>
                    <a:p>
                      <a:pPr indent="0" marL="0">
                        <a:buNone/>
                      </a:pPr>
                      <a:r>
                        <a:rPr lang="en-US" sz="1200" dirty="0">
                          <a:solidFill>
                            <a:srgbClr val="1F2D3A"/>
                          </a:solidFill>
                          <a:latin typeface="Calibri" pitchFamily="34" charset="0"/>
                          <a:ea typeface="Calibri" pitchFamily="34" charset="-122"/>
                          <a:cs typeface="Calibri" pitchFamily="34" charset="-120"/>
                        </a:rPr>
                        <a:t>Indicates night-time cooling; detects cold spells and day/night range</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F2D3A"/>
                          </a:solidFill>
                          <a:latin typeface="Calibri" pitchFamily="34" charset="0"/>
                          <a:ea typeface="Calibri" pitchFamily="34" charset="-122"/>
                          <a:cs typeface="Calibri" pitchFamily="34" charset="-120"/>
                        </a:rPr>
                        <a:t>Mean Temperature</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E4EFF2"/>
                    </a:solidFill>
                  </a:tcPr>
                </a:tc>
                <a:tc>
                  <a:txBody>
                    <a:bodyPr/>
                    <a:lstStyle/>
                    <a:p>
                      <a:pPr indent="0" marL="0">
                        <a:buNone/>
                      </a:pPr>
                      <a:r>
                        <a:rPr lang="en-US" sz="1200" dirty="0">
                          <a:solidFill>
                            <a:srgbClr val="1F2D3A"/>
                          </a:solidFill>
                          <a:latin typeface="Calibri" pitchFamily="34" charset="0"/>
                          <a:ea typeface="Calibri" pitchFamily="34" charset="-122"/>
                          <a:cs typeface="Calibri" pitchFamily="34" charset="-120"/>
                        </a:rPr>
                        <a:t>Average temperature for the day (°C)</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E4EFF2"/>
                    </a:solidFill>
                  </a:tcPr>
                </a:tc>
                <a:tc>
                  <a:txBody>
                    <a:bodyPr/>
                    <a:lstStyle/>
                    <a:p>
                      <a:pPr indent="0" marL="0">
                        <a:buNone/>
                      </a:pPr>
                      <a:r>
                        <a:rPr lang="en-US" sz="1200" dirty="0">
                          <a:solidFill>
                            <a:srgbClr val="1F2D3A"/>
                          </a:solidFill>
                          <a:latin typeface="Calibri" pitchFamily="34" charset="0"/>
                          <a:ea typeface="Calibri" pitchFamily="34" charset="-122"/>
                          <a:cs typeface="Calibri" pitchFamily="34" charset="-120"/>
                        </a:rPr>
                        <a:t>Smooths daily extremes; most common variable for long-term trend analysis</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E4EFF2"/>
                    </a:solidFill>
                  </a:tcPr>
                </a:tc>
              </a:tr>
              <a:tr h="502920">
                <a:tc>
                  <a:txBody>
                    <a:bodyPr/>
                    <a:lstStyle/>
                    <a:p>
                      <a:pPr indent="0" marL="0">
                        <a:buNone/>
                      </a:pPr>
                      <a:r>
                        <a:rPr lang="en-US" sz="1200" b="1" dirty="0">
                          <a:solidFill>
                            <a:srgbClr val="1F2D3A"/>
                          </a:solidFill>
                          <a:latin typeface="Calibri" pitchFamily="34" charset="0"/>
                          <a:ea typeface="Calibri" pitchFamily="34" charset="-122"/>
                          <a:cs typeface="Calibri" pitchFamily="34" charset="-120"/>
                        </a:rPr>
                        <a:t>Precipitation</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FFFFFF"/>
                    </a:solidFill>
                  </a:tcPr>
                </a:tc>
                <a:tc>
                  <a:txBody>
                    <a:bodyPr/>
                    <a:lstStyle/>
                    <a:p>
                      <a:pPr indent="0" marL="0">
                        <a:buNone/>
                      </a:pPr>
                      <a:r>
                        <a:rPr lang="en-US" sz="1200" dirty="0">
                          <a:solidFill>
                            <a:srgbClr val="1F2D3A"/>
                          </a:solidFill>
                          <a:latin typeface="Calibri" pitchFamily="34" charset="0"/>
                          <a:ea typeface="Calibri" pitchFamily="34" charset="-122"/>
                          <a:cs typeface="Calibri" pitchFamily="34" charset="-120"/>
                        </a:rPr>
                        <a:t>Total rainfall recorded for the day (mm)</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FFFFFF"/>
                    </a:solidFill>
                  </a:tcPr>
                </a:tc>
                <a:tc>
                  <a:txBody>
                    <a:bodyPr/>
                    <a:lstStyle/>
                    <a:p>
                      <a:pPr indent="0" marL="0">
                        <a:buNone/>
                      </a:pPr>
                      <a:r>
                        <a:rPr lang="en-US" sz="1200" dirty="0">
                          <a:solidFill>
                            <a:srgbClr val="1F2D3A"/>
                          </a:solidFill>
                          <a:latin typeface="Calibri" pitchFamily="34" charset="0"/>
                          <a:ea typeface="Calibri" pitchFamily="34" charset="-122"/>
                          <a:cs typeface="Calibri" pitchFamily="34" charset="-120"/>
                        </a:rPr>
                        <a:t>Core variable for seasonal (wet/dry, monsoon) analysis and flood-risk indicators</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F2D3A"/>
                          </a:solidFill>
                          <a:latin typeface="Calibri" pitchFamily="34" charset="0"/>
                          <a:ea typeface="Calibri" pitchFamily="34" charset="-122"/>
                          <a:cs typeface="Calibri" pitchFamily="34" charset="-120"/>
                        </a:rPr>
                        <a:t>Wind direction</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E4EFF2"/>
                    </a:solidFill>
                  </a:tcPr>
                </a:tc>
                <a:tc>
                  <a:txBody>
                    <a:bodyPr/>
                    <a:lstStyle/>
                    <a:p>
                      <a:pPr indent="0" marL="0">
                        <a:buNone/>
                      </a:pPr>
                      <a:r>
                        <a:rPr lang="en-US" sz="1200" dirty="0">
                          <a:solidFill>
                            <a:srgbClr val="1F2D3A"/>
                          </a:solidFill>
                          <a:latin typeface="Calibri" pitchFamily="34" charset="0"/>
                          <a:ea typeface="Calibri" pitchFamily="34" charset="-122"/>
                          <a:cs typeface="Calibri" pitchFamily="34" charset="-120"/>
                        </a:rPr>
                        <a:t>Dominant wind direction of the day</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E4EFF2"/>
                    </a:solidFill>
                  </a:tcPr>
                </a:tc>
                <a:tc>
                  <a:txBody>
                    <a:bodyPr/>
                    <a:lstStyle/>
                    <a:p>
                      <a:pPr indent="0" marL="0">
                        <a:buNone/>
                      </a:pPr>
                      <a:r>
                        <a:rPr lang="en-US" sz="1200" dirty="0">
                          <a:solidFill>
                            <a:srgbClr val="1F2D3A"/>
                          </a:solidFill>
                          <a:latin typeface="Calibri" pitchFamily="34" charset="0"/>
                          <a:ea typeface="Calibri" pitchFamily="34" charset="-122"/>
                          <a:cs typeface="Calibri" pitchFamily="34" charset="-120"/>
                        </a:rPr>
                        <a:t>Indicates seasonal wind patterns and cyclones</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E4EFF2"/>
                    </a:solidFill>
                  </a:tcPr>
                </a:tc>
              </a:tr>
              <a:tr h="502920">
                <a:tc>
                  <a:txBody>
                    <a:bodyPr/>
                    <a:lstStyle/>
                    <a:p>
                      <a:pPr indent="0" marL="0">
                        <a:buNone/>
                      </a:pPr>
                      <a:r>
                        <a:rPr lang="en-US" sz="1200" b="1" dirty="0">
                          <a:solidFill>
                            <a:srgbClr val="1F2D3A"/>
                          </a:solidFill>
                          <a:latin typeface="Calibri" pitchFamily="34" charset="0"/>
                          <a:ea typeface="Calibri" pitchFamily="34" charset="-122"/>
                          <a:cs typeface="Calibri" pitchFamily="34" charset="-120"/>
                        </a:rPr>
                        <a:t>Max Wind speed</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FFFFFF"/>
                    </a:solidFill>
                  </a:tcPr>
                </a:tc>
                <a:tc>
                  <a:txBody>
                    <a:bodyPr/>
                    <a:lstStyle/>
                    <a:p>
                      <a:pPr indent="0" marL="0">
                        <a:buNone/>
                      </a:pPr>
                      <a:r>
                        <a:rPr lang="en-US" sz="1200" dirty="0">
                          <a:solidFill>
                            <a:srgbClr val="1F2D3A"/>
                          </a:solidFill>
                          <a:latin typeface="Calibri" pitchFamily="34" charset="0"/>
                          <a:ea typeface="Calibri" pitchFamily="34" charset="-122"/>
                          <a:cs typeface="Calibri" pitchFamily="34" charset="-120"/>
                        </a:rPr>
                        <a:t>Highest wind speed of the day (km/h or m/s)</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FFFFFF"/>
                    </a:solidFill>
                  </a:tcPr>
                </a:tc>
                <a:tc>
                  <a:txBody>
                    <a:bodyPr/>
                    <a:lstStyle/>
                    <a:p>
                      <a:pPr indent="0" marL="0">
                        <a:buNone/>
                      </a:pPr>
                      <a:r>
                        <a:rPr lang="en-US" sz="1200" dirty="0">
                          <a:solidFill>
                            <a:srgbClr val="1F2D3A"/>
                          </a:solidFill>
                          <a:latin typeface="Calibri" pitchFamily="34" charset="0"/>
                          <a:ea typeface="Calibri" pitchFamily="34" charset="-122"/>
                          <a:cs typeface="Calibri" pitchFamily="34" charset="-120"/>
                        </a:rPr>
                        <a:t>Relevant to storm intensity and extreme weather detection</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F2D3A"/>
                          </a:solidFill>
                          <a:latin typeface="Calibri" pitchFamily="34" charset="0"/>
                          <a:ea typeface="Calibri" pitchFamily="34" charset="-122"/>
                          <a:cs typeface="Calibri" pitchFamily="34" charset="-120"/>
                        </a:rPr>
                        <a:t>Sunshine duration</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E4EFF2"/>
                    </a:solidFill>
                  </a:tcPr>
                </a:tc>
                <a:tc>
                  <a:txBody>
                    <a:bodyPr/>
                    <a:lstStyle/>
                    <a:p>
                      <a:pPr indent="0" marL="0">
                        <a:buNone/>
                      </a:pPr>
                      <a:r>
                        <a:rPr lang="en-US" sz="1200" dirty="0">
                          <a:solidFill>
                            <a:srgbClr val="1F2D3A"/>
                          </a:solidFill>
                          <a:latin typeface="Calibri" pitchFamily="34" charset="0"/>
                          <a:ea typeface="Calibri" pitchFamily="34" charset="-122"/>
                          <a:cs typeface="Calibri" pitchFamily="34" charset="-120"/>
                        </a:rPr>
                        <a:t>Total hours of sunshine during the day</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E4EFF2"/>
                    </a:solidFill>
                  </a:tcPr>
                </a:tc>
                <a:tc>
                  <a:txBody>
                    <a:bodyPr/>
                    <a:lstStyle/>
                    <a:p>
                      <a:pPr indent="0" marL="0">
                        <a:buNone/>
                      </a:pPr>
                      <a:r>
                        <a:rPr lang="en-US" sz="1200" dirty="0">
                          <a:solidFill>
                            <a:srgbClr val="1F2D3A"/>
                          </a:solidFill>
                          <a:latin typeface="Calibri" pitchFamily="34" charset="0"/>
                          <a:ea typeface="Calibri" pitchFamily="34" charset="-122"/>
                          <a:cs typeface="Calibri" pitchFamily="34" charset="-120"/>
                        </a:rPr>
                        <a:t>Indicates cloud cover; useful for solar energy potential and temperature/humidity correlation</a:t>
                      </a:r>
                      <a:endParaRPr lang="en-US" sz="1200" dirty="0">
                        <a:latin typeface="Calibri" charset="0"/>
                        <a:ea typeface="Calibri" charset="0"/>
                        <a:cs typeface="Calibri" charset="0"/>
                      </a:endParaRPr>
                    </a:p>
                  </a:txBody>
                  <a:tcPr marL="109728" marR="109728" marT="0" marB="0" anchor="ctr">
                    <a:lnL w="9525" cap="flat" cmpd="sng" algn="ctr">
                      <a:solidFill>
                        <a:srgbClr val="DCE5EC"/>
                      </a:solidFill>
                      <a:prstDash val="solid"/>
                      <a:round/>
                      <a:headEnd type="none" w="med" len="med"/>
                      <a:tailEnd type="none" w="med" len="med"/>
                    </a:lnL>
                    <a:lnR w="9525" cap="flat" cmpd="sng" algn="ctr">
                      <a:solidFill>
                        <a:srgbClr val="DCE5EC"/>
                      </a:solidFill>
                      <a:prstDash val="solid"/>
                      <a:round/>
                      <a:headEnd type="none" w="med" len="med"/>
                      <a:tailEnd type="none" w="med" len="med"/>
                    </a:lnR>
                    <a:lnT w="9525" cap="flat" cmpd="sng" algn="ctr">
                      <a:solidFill>
                        <a:srgbClr val="DCE5EC"/>
                      </a:solidFill>
                      <a:prstDash val="solid"/>
                      <a:round/>
                      <a:headEnd type="none" w="med" len="med"/>
                      <a:tailEnd type="none" w="med" len="med"/>
                    </a:lnT>
                    <a:lnB w="9525" cap="flat" cmpd="sng" algn="ctr">
                      <a:solidFill>
                        <a:srgbClr val="DCE5EC"/>
                      </a:solidFill>
                      <a:prstDash val="solid"/>
                      <a:round/>
                      <a:headEnd type="none" w="med" len="med"/>
                      <a:tailEnd type="none" w="med" len="med"/>
                    </a:lnB>
                    <a:solidFill>
                      <a:srgbClr val="E4EFF2"/>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DATASET</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Dataset at a glance</a:t>
            </a:r>
            <a:endParaRPr lang="en-US" sz="3200" dirty="0"/>
          </a:p>
        </p:txBody>
      </p:sp>
      <p:sp>
        <p:nvSpPr>
          <p:cNvPr id="4" name="Shape 2"/>
          <p:cNvSpPr/>
          <p:nvPr/>
        </p:nvSpPr>
        <p:spPr>
          <a:xfrm>
            <a:off x="548640" y="1463040"/>
            <a:ext cx="2606040" cy="1463040"/>
          </a:xfrm>
          <a:prstGeom prst="roundRect">
            <a:avLst>
              <a:gd name="adj" fmla="val 5000"/>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548640" y="1645920"/>
            <a:ext cx="2606040" cy="731520"/>
          </a:xfrm>
          <a:prstGeom prst="rect">
            <a:avLst/>
          </a:prstGeom>
          <a:noFill/>
          <a:ln/>
        </p:spPr>
        <p:txBody>
          <a:bodyPr wrap="square" lIns="0" tIns="0" rIns="0" bIns="0" rtlCol="0" anchor="t"/>
          <a:lstStyle/>
          <a:p>
            <a:pPr algn="ctr" indent="0" marL="0">
              <a:buNone/>
            </a:pPr>
            <a:r>
              <a:rPr lang="en-US" sz="4400" b="1" dirty="0">
                <a:solidFill>
                  <a:srgbClr val="F28C28"/>
                </a:solidFill>
                <a:latin typeface="Cambria" pitchFamily="34" charset="0"/>
                <a:ea typeface="Cambria" pitchFamily="34" charset="-122"/>
                <a:cs typeface="Cambria" pitchFamily="34" charset="-120"/>
              </a:rPr>
              <a:t>10</a:t>
            </a:r>
            <a:endParaRPr lang="en-US" sz="4400" dirty="0"/>
          </a:p>
        </p:txBody>
      </p:sp>
      <p:sp>
        <p:nvSpPr>
          <p:cNvPr id="6" name="Text 4"/>
          <p:cNvSpPr txBox="1"/>
          <p:nvPr/>
        </p:nvSpPr>
        <p:spPr>
          <a:xfrm>
            <a:off x="548640" y="2423160"/>
            <a:ext cx="2606040" cy="365760"/>
          </a:xfrm>
          <a:prstGeom prst="rect">
            <a:avLst/>
          </a:prstGeom>
          <a:noFill/>
          <a:ln/>
        </p:spPr>
        <p:txBody>
          <a:bodyPr wrap="square" lIns="0" tIns="0" rIns="0" bIns="0" rtlCol="0" anchor="t"/>
          <a:lstStyle/>
          <a:p>
            <a:pPr algn="ctr" indent="0" marL="0">
              <a:buNone/>
            </a:pPr>
            <a:r>
              <a:rPr lang="en-US" sz="1400" dirty="0">
                <a:solidFill>
                  <a:srgbClr val="5B6B7A"/>
                </a:solidFill>
                <a:latin typeface="Calibri" pitchFamily="34" charset="0"/>
                <a:ea typeface="Calibri" pitchFamily="34" charset="-122"/>
                <a:cs typeface="Calibri" pitchFamily="34" charset="-120"/>
              </a:rPr>
              <a:t>cities</a:t>
            </a:r>
            <a:endParaRPr lang="en-US" sz="1400" dirty="0"/>
          </a:p>
        </p:txBody>
      </p:sp>
      <p:sp>
        <p:nvSpPr>
          <p:cNvPr id="7" name="Shape 5"/>
          <p:cNvSpPr/>
          <p:nvPr/>
        </p:nvSpPr>
        <p:spPr>
          <a:xfrm>
            <a:off x="3355848" y="1463040"/>
            <a:ext cx="2606040" cy="1463040"/>
          </a:xfrm>
          <a:prstGeom prst="roundRect">
            <a:avLst>
              <a:gd name="adj" fmla="val 5000"/>
            </a:avLst>
          </a:prstGeom>
          <a:solidFill>
            <a:srgbClr val="E4EFF2"/>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3355848" y="1645920"/>
            <a:ext cx="2606040" cy="731520"/>
          </a:xfrm>
          <a:prstGeom prst="rect">
            <a:avLst/>
          </a:prstGeom>
          <a:noFill/>
          <a:ln/>
        </p:spPr>
        <p:txBody>
          <a:bodyPr wrap="square" lIns="0" tIns="0" rIns="0" bIns="0" rtlCol="0" anchor="t"/>
          <a:lstStyle/>
          <a:p>
            <a:pPr algn="ctr" indent="0" marL="0">
              <a:buNone/>
            </a:pPr>
            <a:r>
              <a:rPr lang="en-US" sz="4400" b="1" dirty="0">
                <a:solidFill>
                  <a:srgbClr val="1F7A8C"/>
                </a:solidFill>
                <a:latin typeface="Cambria" pitchFamily="34" charset="0"/>
                <a:ea typeface="Cambria" pitchFamily="34" charset="-122"/>
                <a:cs typeface="Cambria" pitchFamily="34" charset="-120"/>
              </a:rPr>
              <a:t>24</a:t>
            </a:r>
            <a:endParaRPr lang="en-US" sz="4400" dirty="0"/>
          </a:p>
        </p:txBody>
      </p:sp>
      <p:sp>
        <p:nvSpPr>
          <p:cNvPr id="9" name="Text 7"/>
          <p:cNvSpPr txBox="1"/>
          <p:nvPr/>
        </p:nvSpPr>
        <p:spPr>
          <a:xfrm>
            <a:off x="3355848" y="2423160"/>
            <a:ext cx="2606040" cy="365760"/>
          </a:xfrm>
          <a:prstGeom prst="rect">
            <a:avLst/>
          </a:prstGeom>
          <a:noFill/>
          <a:ln/>
        </p:spPr>
        <p:txBody>
          <a:bodyPr wrap="square" lIns="0" tIns="0" rIns="0" bIns="0" rtlCol="0" anchor="t"/>
          <a:lstStyle/>
          <a:p>
            <a:pPr algn="ctr" indent="0" marL="0">
              <a:buNone/>
            </a:pPr>
            <a:r>
              <a:rPr lang="en-US" sz="1400" dirty="0">
                <a:solidFill>
                  <a:srgbClr val="5B6B7A"/>
                </a:solidFill>
                <a:latin typeface="Calibri" pitchFamily="34" charset="0"/>
                <a:ea typeface="Calibri" pitchFamily="34" charset="-122"/>
                <a:cs typeface="Calibri" pitchFamily="34" charset="-120"/>
              </a:rPr>
              <a:t>years (2000–2024)</a:t>
            </a:r>
            <a:endParaRPr lang="en-US" sz="1400" dirty="0"/>
          </a:p>
        </p:txBody>
      </p:sp>
      <p:sp>
        <p:nvSpPr>
          <p:cNvPr id="10" name="Shape 8"/>
          <p:cNvSpPr/>
          <p:nvPr/>
        </p:nvSpPr>
        <p:spPr>
          <a:xfrm>
            <a:off x="6163056" y="1463040"/>
            <a:ext cx="2606040" cy="1463040"/>
          </a:xfrm>
          <a:prstGeom prst="roundRect">
            <a:avLst>
              <a:gd name="adj" fmla="val 5000"/>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6163056" y="1645920"/>
            <a:ext cx="2606040" cy="731520"/>
          </a:xfrm>
          <a:prstGeom prst="rect">
            <a:avLst/>
          </a:prstGeom>
          <a:noFill/>
          <a:ln/>
        </p:spPr>
        <p:txBody>
          <a:bodyPr wrap="square" lIns="0" tIns="0" rIns="0" bIns="0" rtlCol="0" anchor="t"/>
          <a:lstStyle/>
          <a:p>
            <a:pPr algn="ctr" indent="0" marL="0">
              <a:buNone/>
            </a:pPr>
            <a:r>
              <a:rPr lang="en-US" sz="4400" b="1" dirty="0">
                <a:solidFill>
                  <a:srgbClr val="F28C28"/>
                </a:solidFill>
                <a:latin typeface="Cambria" pitchFamily="34" charset="0"/>
                <a:ea typeface="Cambria" pitchFamily="34" charset="-122"/>
                <a:cs typeface="Cambria" pitchFamily="34" charset="-120"/>
              </a:rPr>
              <a:t>~91K</a:t>
            </a:r>
            <a:endParaRPr lang="en-US" sz="4400" dirty="0"/>
          </a:p>
        </p:txBody>
      </p:sp>
      <p:sp>
        <p:nvSpPr>
          <p:cNvPr id="12" name="Text 10"/>
          <p:cNvSpPr txBox="1"/>
          <p:nvPr/>
        </p:nvSpPr>
        <p:spPr>
          <a:xfrm>
            <a:off x="6163056" y="2423160"/>
            <a:ext cx="2606040" cy="365760"/>
          </a:xfrm>
          <a:prstGeom prst="rect">
            <a:avLst/>
          </a:prstGeom>
          <a:noFill/>
          <a:ln/>
        </p:spPr>
        <p:txBody>
          <a:bodyPr wrap="square" lIns="0" tIns="0" rIns="0" bIns="0" rtlCol="0" anchor="t"/>
          <a:lstStyle/>
          <a:p>
            <a:pPr algn="ctr" indent="0" marL="0">
              <a:buNone/>
            </a:pPr>
            <a:r>
              <a:rPr lang="en-US" sz="1400" dirty="0">
                <a:solidFill>
                  <a:srgbClr val="5B6B7A"/>
                </a:solidFill>
                <a:latin typeface="Calibri" pitchFamily="34" charset="0"/>
                <a:ea typeface="Calibri" pitchFamily="34" charset="-122"/>
                <a:cs typeface="Calibri" pitchFamily="34" charset="-120"/>
              </a:rPr>
              <a:t>daily records</a:t>
            </a:r>
            <a:endParaRPr lang="en-US" sz="1400" dirty="0"/>
          </a:p>
        </p:txBody>
      </p:sp>
      <p:sp>
        <p:nvSpPr>
          <p:cNvPr id="13" name="Shape 11"/>
          <p:cNvSpPr/>
          <p:nvPr/>
        </p:nvSpPr>
        <p:spPr>
          <a:xfrm>
            <a:off x="8970264" y="1463040"/>
            <a:ext cx="2606040" cy="1463040"/>
          </a:xfrm>
          <a:prstGeom prst="roundRect">
            <a:avLst>
              <a:gd name="adj" fmla="val 5000"/>
            </a:avLst>
          </a:prstGeom>
          <a:solidFill>
            <a:srgbClr val="E4EFF2"/>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8970264" y="1645920"/>
            <a:ext cx="2606040" cy="731520"/>
          </a:xfrm>
          <a:prstGeom prst="rect">
            <a:avLst/>
          </a:prstGeom>
          <a:noFill/>
          <a:ln/>
        </p:spPr>
        <p:txBody>
          <a:bodyPr wrap="square" lIns="0" tIns="0" rIns="0" bIns="0" rtlCol="0" anchor="t"/>
          <a:lstStyle/>
          <a:p>
            <a:pPr algn="ctr" indent="0" marL="0">
              <a:buNone/>
            </a:pPr>
            <a:r>
              <a:rPr lang="en-US" sz="4400" b="1" dirty="0">
                <a:solidFill>
                  <a:srgbClr val="1F7A8C"/>
                </a:solidFill>
                <a:latin typeface="Cambria" pitchFamily="34" charset="0"/>
                <a:ea typeface="Cambria" pitchFamily="34" charset="-122"/>
                <a:cs typeface="Cambria" pitchFamily="34" charset="-120"/>
              </a:rPr>
              <a:t>8</a:t>
            </a:r>
            <a:endParaRPr lang="en-US" sz="4400" dirty="0"/>
          </a:p>
        </p:txBody>
      </p:sp>
      <p:sp>
        <p:nvSpPr>
          <p:cNvPr id="15" name="Text 13"/>
          <p:cNvSpPr txBox="1"/>
          <p:nvPr/>
        </p:nvSpPr>
        <p:spPr>
          <a:xfrm>
            <a:off x="8970264" y="2423160"/>
            <a:ext cx="2606040" cy="365760"/>
          </a:xfrm>
          <a:prstGeom prst="rect">
            <a:avLst/>
          </a:prstGeom>
          <a:noFill/>
          <a:ln/>
        </p:spPr>
        <p:txBody>
          <a:bodyPr wrap="square" lIns="0" tIns="0" rIns="0" bIns="0" rtlCol="0" anchor="t"/>
          <a:lstStyle/>
          <a:p>
            <a:pPr algn="ctr" indent="0" marL="0">
              <a:buNone/>
            </a:pPr>
            <a:r>
              <a:rPr lang="en-US" sz="1400" dirty="0">
                <a:solidFill>
                  <a:srgbClr val="5B6B7A"/>
                </a:solidFill>
                <a:latin typeface="Calibri" pitchFamily="34" charset="0"/>
                <a:ea typeface="Calibri" pitchFamily="34" charset="-122"/>
                <a:cs typeface="Calibri" pitchFamily="34" charset="-120"/>
              </a:rPr>
              <a:t>core weather variables</a:t>
            </a:r>
            <a:endParaRPr lang="en-US" sz="1400" dirty="0"/>
          </a:p>
        </p:txBody>
      </p:sp>
      <p:sp>
        <p:nvSpPr>
          <p:cNvPr id="16" name="Shape 14"/>
          <p:cNvSpPr/>
          <p:nvPr/>
        </p:nvSpPr>
        <p:spPr>
          <a:xfrm>
            <a:off x="548640" y="3200400"/>
            <a:ext cx="5449824" cy="3017520"/>
          </a:xfrm>
          <a:prstGeom prst="roundRect">
            <a:avLst>
              <a:gd name="adj" fmla="val 2424"/>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822960" y="3383280"/>
            <a:ext cx="4937760" cy="365760"/>
          </a:xfrm>
          <a:prstGeom prst="rect">
            <a:avLst/>
          </a:prstGeom>
          <a:noFill/>
          <a:ln/>
        </p:spPr>
        <p:txBody>
          <a:bodyPr wrap="square" lIns="0" tIns="0" rIns="0" bIns="0" rtlCol="0" anchor="t"/>
          <a:lstStyle/>
          <a:p>
            <a:pPr indent="0" marL="0">
              <a:buNone/>
            </a:pPr>
            <a:r>
              <a:rPr lang="en-US" sz="1800" b="1" dirty="0">
                <a:solidFill>
                  <a:srgbClr val="1F7A8C"/>
                </a:solidFill>
                <a:latin typeface="Cambria" pitchFamily="34" charset="0"/>
                <a:ea typeface="Cambria" pitchFamily="34" charset="-122"/>
                <a:cs typeface="Cambria" pitchFamily="34" charset="-120"/>
              </a:rPr>
              <a:t>Raw variables</a:t>
            </a:r>
            <a:endParaRPr lang="en-US" sz="1800" dirty="0"/>
          </a:p>
        </p:txBody>
      </p:sp>
      <p:sp>
        <p:nvSpPr>
          <p:cNvPr id="18" name="Text 16"/>
          <p:cNvSpPr txBox="1"/>
          <p:nvPr/>
        </p:nvSpPr>
        <p:spPr>
          <a:xfrm>
            <a:off x="822960" y="3931920"/>
            <a:ext cx="493776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Max / min temperature and apparent temperature</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Precipitation sum, weather code</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Wind speed, gusts and dominant direction</a:t>
            </a:r>
            <a:endParaRPr lang="en-US" sz="1600" dirty="0"/>
          </a:p>
        </p:txBody>
      </p:sp>
      <p:sp>
        <p:nvSpPr>
          <p:cNvPr id="19" name="Shape 17"/>
          <p:cNvSpPr/>
          <p:nvPr/>
        </p:nvSpPr>
        <p:spPr>
          <a:xfrm>
            <a:off x="6190488" y="3200400"/>
            <a:ext cx="5449824" cy="3017520"/>
          </a:xfrm>
          <a:prstGeom prst="roundRect">
            <a:avLst>
              <a:gd name="adj" fmla="val 2424"/>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20" name="Text 18"/>
          <p:cNvSpPr txBox="1"/>
          <p:nvPr/>
        </p:nvSpPr>
        <p:spPr>
          <a:xfrm>
            <a:off x="6464808" y="3383280"/>
            <a:ext cx="4937760" cy="365760"/>
          </a:xfrm>
          <a:prstGeom prst="rect">
            <a:avLst/>
          </a:prstGeom>
          <a:noFill/>
          <a:ln/>
        </p:spPr>
        <p:txBody>
          <a:bodyPr wrap="square" lIns="0" tIns="0" rIns="0" bIns="0" rtlCol="0" anchor="t"/>
          <a:lstStyle/>
          <a:p>
            <a:pPr indent="0" marL="0">
              <a:buNone/>
            </a:pPr>
            <a:r>
              <a:rPr lang="en-US" sz="1800" b="1" dirty="0">
                <a:solidFill>
                  <a:srgbClr val="1F7A8C"/>
                </a:solidFill>
                <a:latin typeface="Cambria" pitchFamily="34" charset="0"/>
                <a:ea typeface="Cambria" pitchFamily="34" charset="-122"/>
                <a:cs typeface="Cambria" pitchFamily="34" charset="-120"/>
              </a:rPr>
              <a:t>Engineered features</a:t>
            </a:r>
            <a:endParaRPr lang="en-US" sz="1800" dirty="0"/>
          </a:p>
        </p:txBody>
      </p:sp>
      <p:sp>
        <p:nvSpPr>
          <p:cNvPr id="21" name="Text 19"/>
          <p:cNvSpPr txBox="1"/>
          <p:nvPr/>
        </p:nvSpPr>
        <p:spPr>
          <a:xfrm>
            <a:off x="6464808" y="3931920"/>
            <a:ext cx="493776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month, year and season</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precipitation_log = log(1 + rain)</a:t>
            </a:r>
            <a:endParaRPr lang="en-US" sz="1600" dirty="0"/>
          </a:p>
          <a:p>
            <a:pPr marL="342900" indent="-342900">
              <a:spcAft>
                <a:spcPts val="800"/>
              </a:spcAft>
              <a:buSzPct val="100000"/>
              <a:buChar char="•"/>
            </a:pPr>
            <a:r>
              <a:rPr lang="en-US" sz="1600" dirty="0">
                <a:solidFill>
                  <a:srgbClr val="1F2D3A"/>
                </a:solidFill>
                <a:latin typeface="Calibri" pitchFamily="34" charset="0"/>
                <a:ea typeface="Calibri" pitchFamily="34" charset="-122"/>
                <a:cs typeface="Calibri" pitchFamily="34" charset="-120"/>
              </a:rPr>
              <a:t>weather_label (readable weather code)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63F"/>
        </a:solidFill>
      </p:bgPr>
    </p:bg>
    <p:spTree>
      <p:nvGrpSpPr>
        <p:cNvPr id="1" name=""/>
        <p:cNvGrpSpPr/>
        <p:nvPr/>
      </p:nvGrpSpPr>
      <p:grpSpPr>
        <a:xfrm>
          <a:off x="0" y="0"/>
          <a:ext cx="0" cy="0"/>
          <a:chOff x="0" y="0"/>
          <a:chExt cx="0" cy="0"/>
        </a:xfrm>
      </p:grpSpPr>
      <p:pic>
        <p:nvPicPr>
          <p:cNvPr id="2" name="Image 0" descr="img/a7_1.jp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0" y="0"/>
            <a:ext cx="12188952" cy="6858000"/>
          </a:xfrm>
          <a:prstGeom prst="rect">
            <a:avLst/>
          </a:prstGeom>
          <a:solidFill>
            <a:srgbClr val="12263F">
              <a:alpha val="65000"/>
            </a:srgbClr>
          </a:solidFill>
          <a:ln/>
        </p:spPr>
      </p:sp>
      <p:sp>
        <p:nvSpPr>
          <p:cNvPr id="4" name="Text 1"/>
          <p:cNvSpPr txBox="1"/>
          <p:nvPr/>
        </p:nvSpPr>
        <p:spPr>
          <a:xfrm>
            <a:off x="822960" y="2377440"/>
            <a:ext cx="8229600" cy="274320"/>
          </a:xfrm>
          <a:prstGeom prst="rect">
            <a:avLst/>
          </a:prstGeom>
          <a:noFill/>
          <a:ln/>
        </p:spPr>
        <p:txBody>
          <a:bodyPr wrap="square" lIns="0" tIns="0" rIns="0" bIns="0" rtlCol="0" anchor="t"/>
          <a:lstStyle/>
          <a:p>
            <a:pPr indent="0" marL="0">
              <a:buNone/>
            </a:pPr>
            <a:r>
              <a:rPr lang="en-US" sz="1200" b="1" spc="300" kern="0" dirty="0">
                <a:solidFill>
                  <a:srgbClr val="F28C28"/>
                </a:solidFill>
                <a:latin typeface="Calibri" pitchFamily="34" charset="0"/>
                <a:ea typeface="Calibri" pitchFamily="34" charset="-122"/>
                <a:cs typeface="Calibri" pitchFamily="34" charset="-120"/>
              </a:rPr>
              <a:t>PREPROCESSING</a:t>
            </a:r>
            <a:endParaRPr lang="en-US" sz="1200" dirty="0"/>
          </a:p>
        </p:txBody>
      </p:sp>
      <p:sp>
        <p:nvSpPr>
          <p:cNvPr id="5" name="Text 2"/>
          <p:cNvSpPr txBox="1"/>
          <p:nvPr/>
        </p:nvSpPr>
        <p:spPr>
          <a:xfrm>
            <a:off x="822960" y="2743200"/>
            <a:ext cx="8229600" cy="146304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Data preprocessing and feature engineering</a:t>
            </a:r>
            <a:endParaRPr lang="en-US" sz="4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PREPROCESSING</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Handling missing values and duplicates</a:t>
            </a:r>
            <a:endParaRPr lang="en-US" sz="3200" dirty="0"/>
          </a:p>
        </p:txBody>
      </p:sp>
      <p:sp>
        <p:nvSpPr>
          <p:cNvPr id="4" name="Shape 2"/>
          <p:cNvSpPr/>
          <p:nvPr/>
        </p:nvSpPr>
        <p:spPr>
          <a:xfrm>
            <a:off x="548640" y="1463040"/>
            <a:ext cx="4754880" cy="4754880"/>
          </a:xfrm>
          <a:prstGeom prst="roundRect">
            <a:avLst>
              <a:gd name="adj" fmla="val 1538"/>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737360"/>
            <a:ext cx="4206240" cy="4206240"/>
          </a:xfrm>
          <a:prstGeom prst="rect">
            <a:avLst/>
          </a:prstGeom>
          <a:noFill/>
          <a:ln/>
        </p:spPr>
        <p:txBody>
          <a:bodyPr wrap="square" lIns="0" tIns="0" rIns="0" bIns="0" rtlCol="0" anchor="t"/>
          <a:lstStyle/>
          <a:p>
            <a:pPr marL="342900" indent="-342900">
              <a:spcAft>
                <a:spcPts val="1600"/>
              </a:spcAft>
              <a:buSzPct val="100000"/>
              <a:buChar char="•"/>
            </a:pPr>
            <a:r>
              <a:rPr lang="en-US" sz="1600" dirty="0">
                <a:solidFill>
                  <a:srgbClr val="1F2D3A"/>
                </a:solidFill>
                <a:latin typeface="Calibri" pitchFamily="34" charset="0"/>
                <a:ea typeface="Calibri" pitchFamily="34" charset="-122"/>
                <a:cs typeface="Calibri" pitchFamily="34" charset="-120"/>
              </a:rPr>
              <a:t>Data is inspected using pd.info() and pd.head()</a:t>
            </a:r>
            <a:endParaRPr lang="en-US" sz="1600" dirty="0"/>
          </a:p>
          <a:p>
            <a:pPr marL="342900" indent="-342900">
              <a:spcAft>
                <a:spcPts val="1600"/>
              </a:spcAft>
              <a:buSzPct val="100000"/>
              <a:buChar char="•"/>
            </a:pPr>
            <a:r>
              <a:rPr lang="en-US" sz="1600" dirty="0">
                <a:solidFill>
                  <a:srgbClr val="1F2D3A"/>
                </a:solidFill>
                <a:latin typeface="Calibri" pitchFamily="34" charset="0"/>
                <a:ea typeface="Calibri" pitchFamily="34" charset="-122"/>
                <a:cs typeface="Calibri" pitchFamily="34" charset="-120"/>
              </a:rPr>
              <a:t>Missing values are checked using pandas method pd.isnull()</a:t>
            </a:r>
            <a:endParaRPr lang="en-US" sz="1600" dirty="0"/>
          </a:p>
          <a:p>
            <a:pPr marL="342900" indent="-342900">
              <a:spcAft>
                <a:spcPts val="1600"/>
              </a:spcAft>
              <a:buSzPct val="100000"/>
              <a:buChar char="•"/>
            </a:pPr>
            <a:r>
              <a:rPr lang="en-US" sz="1600" dirty="0">
                <a:solidFill>
                  <a:srgbClr val="1F2D3A"/>
                </a:solidFill>
                <a:latin typeface="Calibri" pitchFamily="34" charset="0"/>
                <a:ea typeface="Calibri" pitchFamily="34" charset="-122"/>
                <a:cs typeface="Calibri" pitchFamily="34" charset="-120"/>
              </a:rPr>
              <a:t>Duplicate values are removed using pandas method pd.dropduplicates()</a:t>
            </a:r>
            <a:endParaRPr lang="en-US" sz="1600" dirty="0"/>
          </a:p>
        </p:txBody>
      </p:sp>
      <p:pic>
        <p:nvPicPr>
          <p:cNvPr id="6" name="Image 0" descr="img/a8_1.png">    </p:cNvPr>
          <p:cNvPicPr>
            <a:picLocks noChangeAspect="1"/>
          </p:cNvPicPr>
          <p:nvPr/>
        </p:nvPicPr>
        <p:blipFill>
          <a:blip r:embed="rId1"/>
          <a:stretch>
            <a:fillRect/>
          </a:stretch>
        </p:blipFill>
        <p:spPr>
          <a:xfrm>
            <a:off x="5577840" y="1513840"/>
            <a:ext cx="6062472" cy="1727200"/>
          </a:xfrm>
          <a:prstGeom prst="rect">
            <a:avLst/>
          </a:prstGeom>
        </p:spPr>
      </p:pic>
      <p:pic>
        <p:nvPicPr>
          <p:cNvPr id="7" name="Image 1" descr="img/a8_2.png">    </p:cNvPr>
          <p:cNvPicPr>
            <a:picLocks noChangeAspect="1"/>
          </p:cNvPicPr>
          <p:nvPr/>
        </p:nvPicPr>
        <p:blipFill>
          <a:blip r:embed="rId2"/>
          <a:stretch>
            <a:fillRect/>
          </a:stretch>
        </p:blipFill>
        <p:spPr>
          <a:xfrm>
            <a:off x="6853428" y="3474720"/>
            <a:ext cx="3511296" cy="2743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PREPROCESSING</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Statistical analysis</a:t>
            </a:r>
            <a:endParaRPr lang="en-US" sz="3200" dirty="0"/>
          </a:p>
        </p:txBody>
      </p:sp>
      <p:sp>
        <p:nvSpPr>
          <p:cNvPr id="4" name="Shape 2"/>
          <p:cNvSpPr/>
          <p:nvPr/>
        </p:nvSpPr>
        <p:spPr>
          <a:xfrm>
            <a:off x="548640" y="1463040"/>
            <a:ext cx="4754880" cy="4754880"/>
          </a:xfrm>
          <a:prstGeom prst="roundRect">
            <a:avLst>
              <a:gd name="adj" fmla="val 1538"/>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737360"/>
            <a:ext cx="4206240" cy="4206240"/>
          </a:xfrm>
          <a:prstGeom prst="rect">
            <a:avLst/>
          </a:prstGeom>
          <a:noFill/>
          <a:ln/>
        </p:spPr>
        <p:txBody>
          <a:bodyPr wrap="square" lIns="0" tIns="0" rIns="0" bIns="0" rtlCol="0" anchor="ctr"/>
          <a:lstStyle/>
          <a:p>
            <a:pPr indent="0" marL="0">
              <a:buNone/>
            </a:pPr>
            <a:r>
              <a:rPr lang="en-US" sz="1700" dirty="0">
                <a:solidFill>
                  <a:srgbClr val="1F2D3A"/>
                </a:solidFill>
                <a:latin typeface="Calibri" pitchFamily="34" charset="0"/>
                <a:ea typeface="Calibri" pitchFamily="34" charset="-122"/>
                <a:cs typeface="Calibri" pitchFamily="34" charset="-120"/>
              </a:rPr>
              <a:t>Statistical metrics such as mean, median, standard deviation and quartiles are computed using the pandas method pd.describe().</a:t>
            </a:r>
            <a:endParaRPr lang="en-US" sz="1700" dirty="0"/>
          </a:p>
        </p:txBody>
      </p:sp>
      <p:pic>
        <p:nvPicPr>
          <p:cNvPr id="6" name="Image 0" descr="img/a9_1.png">    </p:cNvPr>
          <p:cNvPicPr>
            <a:picLocks noChangeAspect="1"/>
          </p:cNvPicPr>
          <p:nvPr/>
        </p:nvPicPr>
        <p:blipFill>
          <a:blip r:embed="rId1"/>
          <a:stretch>
            <a:fillRect/>
          </a:stretch>
        </p:blipFill>
        <p:spPr>
          <a:xfrm>
            <a:off x="5577840" y="2661011"/>
            <a:ext cx="6062472" cy="235893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PREPROCESSING</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Feature engineering</a:t>
            </a:r>
            <a:endParaRPr lang="en-US" sz="3200" dirty="0"/>
          </a:p>
        </p:txBody>
      </p:sp>
      <p:sp>
        <p:nvSpPr>
          <p:cNvPr id="4" name="Shape 2"/>
          <p:cNvSpPr/>
          <p:nvPr/>
        </p:nvSpPr>
        <p:spPr>
          <a:xfrm>
            <a:off x="548640" y="1463040"/>
            <a:ext cx="4754880" cy="4754880"/>
          </a:xfrm>
          <a:prstGeom prst="roundRect">
            <a:avLst>
              <a:gd name="adj" fmla="val 1538"/>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737360"/>
            <a:ext cx="4206240" cy="4206240"/>
          </a:xfrm>
          <a:prstGeom prst="rect">
            <a:avLst/>
          </a:prstGeom>
          <a:noFill/>
          <a:ln/>
        </p:spPr>
        <p:txBody>
          <a:bodyPr wrap="square" lIns="0" tIns="0" rIns="0" bIns="0" rtlCol="0" anchor="t"/>
          <a:lstStyle/>
          <a:p>
            <a:pPr marL="342900" indent="-342900">
              <a:spcAft>
                <a:spcPts val="1600"/>
              </a:spcAft>
              <a:buSzPct val="100000"/>
              <a:buChar char="•"/>
            </a:pPr>
            <a:r>
              <a:rPr lang="en-US" sz="1600" dirty="0">
                <a:solidFill>
                  <a:srgbClr val="1F2D3A"/>
                </a:solidFill>
                <a:latin typeface="Calibri" pitchFamily="34" charset="0"/>
                <a:ea typeface="Calibri" pitchFamily="34" charset="-122"/>
                <a:cs typeface="Calibri" pitchFamily="34" charset="-120"/>
              </a:rPr>
              <a:t>The existing features of the dataset may be insufficient</a:t>
            </a:r>
            <a:endParaRPr lang="en-US" sz="1600" dirty="0"/>
          </a:p>
          <a:p>
            <a:pPr marL="342900" indent="-342900">
              <a:spcAft>
                <a:spcPts val="1600"/>
              </a:spcAft>
              <a:buSzPct val="100000"/>
              <a:buChar char="•"/>
            </a:pPr>
            <a:r>
              <a:rPr lang="en-US" sz="1600" dirty="0">
                <a:solidFill>
                  <a:srgbClr val="1F2D3A"/>
                </a:solidFill>
                <a:latin typeface="Calibri" pitchFamily="34" charset="0"/>
                <a:ea typeface="Calibri" pitchFamily="34" charset="-122"/>
                <a:cs typeface="Calibri" pitchFamily="34" charset="-120"/>
              </a:rPr>
              <a:t>Hence new features such as month and season are constructed from existing features such as date</a:t>
            </a:r>
            <a:endParaRPr lang="en-US" sz="1600" dirty="0"/>
          </a:p>
          <a:p>
            <a:pPr marL="342900" indent="-342900">
              <a:spcAft>
                <a:spcPts val="1600"/>
              </a:spcAft>
              <a:buSzPct val="100000"/>
              <a:buChar char="•"/>
            </a:pPr>
            <a:r>
              <a:rPr lang="en-US" sz="1600" dirty="0">
                <a:solidFill>
                  <a:srgbClr val="1F2D3A"/>
                </a:solidFill>
                <a:latin typeface="Calibri" pitchFamily="34" charset="0"/>
                <a:ea typeface="Calibri" pitchFamily="34" charset="-122"/>
                <a:cs typeface="Calibri" pitchFamily="34" charset="-120"/>
              </a:rPr>
              <a:t>These new features lead to better and deeper analysis</a:t>
            </a:r>
            <a:endParaRPr lang="en-US" sz="1600" dirty="0"/>
          </a:p>
        </p:txBody>
      </p:sp>
      <p:pic>
        <p:nvPicPr>
          <p:cNvPr id="6" name="Image 0" descr="img/a10_1.png">    </p:cNvPr>
          <p:cNvPicPr>
            <a:picLocks noChangeAspect="1"/>
          </p:cNvPicPr>
          <p:nvPr/>
        </p:nvPicPr>
        <p:blipFill>
          <a:blip r:embed="rId1"/>
          <a:stretch>
            <a:fillRect/>
          </a:stretch>
        </p:blipFill>
        <p:spPr>
          <a:xfrm>
            <a:off x="6452921" y="1463040"/>
            <a:ext cx="4312310" cy="3291840"/>
          </a:xfrm>
          <a:prstGeom prst="rect">
            <a:avLst/>
          </a:prstGeom>
        </p:spPr>
      </p:pic>
      <p:pic>
        <p:nvPicPr>
          <p:cNvPr id="7" name="Image 1" descr="img/a10_2.png">    </p:cNvPr>
          <p:cNvPicPr>
            <a:picLocks noChangeAspect="1"/>
          </p:cNvPicPr>
          <p:nvPr/>
        </p:nvPicPr>
        <p:blipFill>
          <a:blip r:embed="rId2"/>
          <a:stretch>
            <a:fillRect/>
          </a:stretch>
        </p:blipFill>
        <p:spPr>
          <a:xfrm>
            <a:off x="5577840" y="5101833"/>
            <a:ext cx="6062472" cy="10434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PREPROCESSING</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Engineered features</a:t>
            </a:r>
            <a:endParaRPr lang="en-US" sz="3200" dirty="0"/>
          </a:p>
        </p:txBody>
      </p:sp>
      <p:sp>
        <p:nvSpPr>
          <p:cNvPr id="4" name="Shape 2"/>
          <p:cNvSpPr/>
          <p:nvPr/>
        </p:nvSpPr>
        <p:spPr>
          <a:xfrm>
            <a:off x="548640" y="1463040"/>
            <a:ext cx="5449824" cy="2194560"/>
          </a:xfrm>
          <a:prstGeom prst="roundRect">
            <a:avLst>
              <a:gd name="adj" fmla="val 3333"/>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822960" y="1737360"/>
            <a:ext cx="457200" cy="457200"/>
          </a:xfrm>
          <a:prstGeom prst="ellipse">
            <a:avLst/>
          </a:prstGeom>
          <a:solidFill>
            <a:srgbClr val="F28C28"/>
          </a:solidFill>
          <a:ln/>
        </p:spPr>
      </p:sp>
      <p:sp>
        <p:nvSpPr>
          <p:cNvPr id="6" name="Text 4"/>
          <p:cNvSpPr txBox="1"/>
          <p:nvPr/>
        </p:nvSpPr>
        <p:spPr>
          <a:xfrm>
            <a:off x="1463040" y="1737360"/>
            <a:ext cx="4297680" cy="457200"/>
          </a:xfrm>
          <a:prstGeom prst="rect">
            <a:avLst/>
          </a:prstGeom>
          <a:noFill/>
          <a:ln/>
        </p:spPr>
        <p:txBody>
          <a:bodyPr wrap="square" lIns="0" tIns="0" rIns="0" bIns="0" rtlCol="0" anchor="ctr"/>
          <a:lstStyle/>
          <a:p>
            <a:pPr indent="0" marL="0">
              <a:buNone/>
            </a:pPr>
            <a:r>
              <a:rPr lang="en-US" sz="2000" b="1" dirty="0">
                <a:solidFill>
                  <a:srgbClr val="12263F"/>
                </a:solidFill>
                <a:latin typeface="Cambria" pitchFamily="34" charset="0"/>
                <a:ea typeface="Cambria" pitchFamily="34" charset="-122"/>
                <a:cs typeface="Cambria" pitchFamily="34" charset="-120"/>
              </a:rPr>
              <a:t>Date parts</a:t>
            </a:r>
            <a:endParaRPr lang="en-US" sz="2000" dirty="0"/>
          </a:p>
        </p:txBody>
      </p:sp>
      <p:sp>
        <p:nvSpPr>
          <p:cNvPr id="7" name="Text 5"/>
          <p:cNvSpPr txBox="1"/>
          <p:nvPr/>
        </p:nvSpPr>
        <p:spPr>
          <a:xfrm>
            <a:off x="822960" y="2377440"/>
            <a:ext cx="4937760" cy="1097280"/>
          </a:xfrm>
          <a:prstGeom prst="rect">
            <a:avLst/>
          </a:prstGeom>
          <a:noFill/>
          <a:ln/>
        </p:spPr>
        <p:txBody>
          <a:bodyPr wrap="square" lIns="0" tIns="0" rIns="0" bIns="0" rtlCol="0" anchor="t"/>
          <a:lstStyle/>
          <a:p>
            <a:pPr indent="0" marL="0">
              <a:buNone/>
            </a:pPr>
            <a:r>
              <a:rPr lang="en-US" sz="1600" dirty="0">
                <a:solidFill>
                  <a:srgbClr val="1F2D3A"/>
                </a:solidFill>
                <a:latin typeface="Calibri" pitchFamily="34" charset="0"/>
                <a:ea typeface="Calibri" pitchFamily="34" charset="-122"/>
                <a:cs typeface="Calibri" pitchFamily="34" charset="-120"/>
              </a:rPr>
              <a:t>Month and year extracted from the date to study trends and seasonality.</a:t>
            </a:r>
            <a:endParaRPr lang="en-US" sz="1600" dirty="0"/>
          </a:p>
        </p:txBody>
      </p:sp>
      <p:sp>
        <p:nvSpPr>
          <p:cNvPr id="8" name="Shape 6"/>
          <p:cNvSpPr/>
          <p:nvPr/>
        </p:nvSpPr>
        <p:spPr>
          <a:xfrm>
            <a:off x="6190488" y="1463040"/>
            <a:ext cx="5449824" cy="2194560"/>
          </a:xfrm>
          <a:prstGeom prst="roundRect">
            <a:avLst>
              <a:gd name="adj" fmla="val 3333"/>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6464808" y="1737360"/>
            <a:ext cx="457200" cy="457200"/>
          </a:xfrm>
          <a:prstGeom prst="ellipse">
            <a:avLst/>
          </a:prstGeom>
          <a:solidFill>
            <a:srgbClr val="1F7A8C"/>
          </a:solidFill>
          <a:ln/>
        </p:spPr>
      </p:sp>
      <p:sp>
        <p:nvSpPr>
          <p:cNvPr id="10" name="Text 8"/>
          <p:cNvSpPr txBox="1"/>
          <p:nvPr/>
        </p:nvSpPr>
        <p:spPr>
          <a:xfrm>
            <a:off x="7104888" y="1737360"/>
            <a:ext cx="4297680" cy="457200"/>
          </a:xfrm>
          <a:prstGeom prst="rect">
            <a:avLst/>
          </a:prstGeom>
          <a:noFill/>
          <a:ln/>
        </p:spPr>
        <p:txBody>
          <a:bodyPr wrap="square" lIns="0" tIns="0" rIns="0" bIns="0" rtlCol="0" anchor="ctr"/>
          <a:lstStyle/>
          <a:p>
            <a:pPr indent="0" marL="0">
              <a:buNone/>
            </a:pPr>
            <a:r>
              <a:rPr lang="en-US" sz="2000" b="1" dirty="0">
                <a:solidFill>
                  <a:srgbClr val="12263F"/>
                </a:solidFill>
                <a:latin typeface="Cambria" pitchFamily="34" charset="0"/>
                <a:ea typeface="Cambria" pitchFamily="34" charset="-122"/>
                <a:cs typeface="Cambria" pitchFamily="34" charset="-120"/>
              </a:rPr>
              <a:t>Season label</a:t>
            </a:r>
            <a:endParaRPr lang="en-US" sz="2000" dirty="0"/>
          </a:p>
        </p:txBody>
      </p:sp>
      <p:sp>
        <p:nvSpPr>
          <p:cNvPr id="11" name="Text 9"/>
          <p:cNvSpPr txBox="1"/>
          <p:nvPr/>
        </p:nvSpPr>
        <p:spPr>
          <a:xfrm>
            <a:off x="6464808" y="2377440"/>
            <a:ext cx="4937760" cy="1097280"/>
          </a:xfrm>
          <a:prstGeom prst="rect">
            <a:avLst/>
          </a:prstGeom>
          <a:noFill/>
          <a:ln/>
        </p:spPr>
        <p:txBody>
          <a:bodyPr wrap="square" lIns="0" tIns="0" rIns="0" bIns="0" rtlCol="0" anchor="t"/>
          <a:lstStyle/>
          <a:p>
            <a:pPr indent="0" marL="0">
              <a:buNone/>
            </a:pPr>
            <a:r>
              <a:rPr lang="en-US" sz="1600" dirty="0">
                <a:solidFill>
                  <a:srgbClr val="1F2D3A"/>
                </a:solidFill>
                <a:latin typeface="Calibri" pitchFamily="34" charset="0"/>
                <a:ea typeface="Calibri" pitchFamily="34" charset="-122"/>
                <a:cs typeface="Calibri" pitchFamily="34" charset="-120"/>
              </a:rPr>
              <a:t>Each record tagged Winter, Summer, Monsoon or Post-Monsoon.</a:t>
            </a:r>
            <a:endParaRPr lang="en-US" sz="1600" dirty="0"/>
          </a:p>
        </p:txBody>
      </p:sp>
      <p:sp>
        <p:nvSpPr>
          <p:cNvPr id="12" name="Shape 10"/>
          <p:cNvSpPr/>
          <p:nvPr/>
        </p:nvSpPr>
        <p:spPr>
          <a:xfrm>
            <a:off x="548640" y="3886200"/>
            <a:ext cx="5449824" cy="2194560"/>
          </a:xfrm>
          <a:prstGeom prst="roundRect">
            <a:avLst>
              <a:gd name="adj" fmla="val 3333"/>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13" name="Shape 11"/>
          <p:cNvSpPr/>
          <p:nvPr/>
        </p:nvSpPr>
        <p:spPr>
          <a:xfrm>
            <a:off x="822960" y="4160520"/>
            <a:ext cx="457200" cy="457200"/>
          </a:xfrm>
          <a:prstGeom prst="ellipse">
            <a:avLst/>
          </a:prstGeom>
          <a:solidFill>
            <a:srgbClr val="12263F"/>
          </a:solidFill>
          <a:ln/>
        </p:spPr>
      </p:sp>
      <p:sp>
        <p:nvSpPr>
          <p:cNvPr id="14" name="Text 12"/>
          <p:cNvSpPr txBox="1"/>
          <p:nvPr/>
        </p:nvSpPr>
        <p:spPr>
          <a:xfrm>
            <a:off x="1463040" y="4160520"/>
            <a:ext cx="4297680" cy="457200"/>
          </a:xfrm>
          <a:prstGeom prst="rect">
            <a:avLst/>
          </a:prstGeom>
          <a:noFill/>
          <a:ln/>
        </p:spPr>
        <p:txBody>
          <a:bodyPr wrap="square" lIns="0" tIns="0" rIns="0" bIns="0" rtlCol="0" anchor="ctr"/>
          <a:lstStyle/>
          <a:p>
            <a:pPr indent="0" marL="0">
              <a:buNone/>
            </a:pPr>
            <a:r>
              <a:rPr lang="en-US" sz="2000" b="1" dirty="0">
                <a:solidFill>
                  <a:srgbClr val="12263F"/>
                </a:solidFill>
                <a:latin typeface="Cambria" pitchFamily="34" charset="0"/>
                <a:ea typeface="Cambria" pitchFamily="34" charset="-122"/>
                <a:cs typeface="Cambria" pitchFamily="34" charset="-120"/>
              </a:rPr>
              <a:t>Log precipitation</a:t>
            </a:r>
            <a:endParaRPr lang="en-US" sz="2000" dirty="0"/>
          </a:p>
        </p:txBody>
      </p:sp>
      <p:sp>
        <p:nvSpPr>
          <p:cNvPr id="15" name="Text 13"/>
          <p:cNvSpPr txBox="1"/>
          <p:nvPr/>
        </p:nvSpPr>
        <p:spPr>
          <a:xfrm>
            <a:off x="822960" y="4800600"/>
            <a:ext cx="4937760" cy="1097280"/>
          </a:xfrm>
          <a:prstGeom prst="rect">
            <a:avLst/>
          </a:prstGeom>
          <a:noFill/>
          <a:ln/>
        </p:spPr>
        <p:txBody>
          <a:bodyPr wrap="square" lIns="0" tIns="0" rIns="0" bIns="0" rtlCol="0" anchor="t"/>
          <a:lstStyle/>
          <a:p>
            <a:pPr indent="0" marL="0">
              <a:buNone/>
            </a:pPr>
            <a:r>
              <a:rPr lang="en-US" sz="1600" dirty="0">
                <a:solidFill>
                  <a:srgbClr val="1F2D3A"/>
                </a:solidFill>
                <a:latin typeface="Calibri" pitchFamily="34" charset="0"/>
                <a:ea typeface="Calibri" pitchFamily="34" charset="-122"/>
                <a:cs typeface="Calibri" pitchFamily="34" charset="-120"/>
              </a:rPr>
              <a:t>log(1 + rain) reduces the heavy right skew of daily rainfall.</a:t>
            </a:r>
            <a:endParaRPr lang="en-US" sz="1600" dirty="0"/>
          </a:p>
        </p:txBody>
      </p:sp>
      <p:sp>
        <p:nvSpPr>
          <p:cNvPr id="16" name="Shape 14"/>
          <p:cNvSpPr/>
          <p:nvPr/>
        </p:nvSpPr>
        <p:spPr>
          <a:xfrm>
            <a:off x="6190488" y="3886200"/>
            <a:ext cx="5449824" cy="2194560"/>
          </a:xfrm>
          <a:prstGeom prst="roundRect">
            <a:avLst>
              <a:gd name="adj" fmla="val 3333"/>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6464808" y="4160520"/>
            <a:ext cx="457200" cy="457200"/>
          </a:xfrm>
          <a:prstGeom prst="ellipse">
            <a:avLst/>
          </a:prstGeom>
          <a:solidFill>
            <a:srgbClr val="A26769"/>
          </a:solidFill>
          <a:ln/>
        </p:spPr>
      </p:sp>
      <p:sp>
        <p:nvSpPr>
          <p:cNvPr id="18" name="Text 16"/>
          <p:cNvSpPr txBox="1"/>
          <p:nvPr/>
        </p:nvSpPr>
        <p:spPr>
          <a:xfrm>
            <a:off x="7104888" y="4160520"/>
            <a:ext cx="4297680" cy="457200"/>
          </a:xfrm>
          <a:prstGeom prst="rect">
            <a:avLst/>
          </a:prstGeom>
          <a:noFill/>
          <a:ln/>
        </p:spPr>
        <p:txBody>
          <a:bodyPr wrap="square" lIns="0" tIns="0" rIns="0" bIns="0" rtlCol="0" anchor="ctr"/>
          <a:lstStyle/>
          <a:p>
            <a:pPr indent="0" marL="0">
              <a:buNone/>
            </a:pPr>
            <a:r>
              <a:rPr lang="en-US" sz="2000" b="1" dirty="0">
                <a:solidFill>
                  <a:srgbClr val="12263F"/>
                </a:solidFill>
                <a:latin typeface="Cambria" pitchFamily="34" charset="0"/>
                <a:ea typeface="Cambria" pitchFamily="34" charset="-122"/>
                <a:cs typeface="Cambria" pitchFamily="34" charset="-120"/>
              </a:rPr>
              <a:t>Weather label</a:t>
            </a:r>
            <a:endParaRPr lang="en-US" sz="2000" dirty="0"/>
          </a:p>
        </p:txBody>
      </p:sp>
      <p:sp>
        <p:nvSpPr>
          <p:cNvPr id="19" name="Text 17"/>
          <p:cNvSpPr txBox="1"/>
          <p:nvPr/>
        </p:nvSpPr>
        <p:spPr>
          <a:xfrm>
            <a:off x="6464808" y="4800600"/>
            <a:ext cx="4937760" cy="1097280"/>
          </a:xfrm>
          <a:prstGeom prst="rect">
            <a:avLst/>
          </a:prstGeom>
          <a:noFill/>
          <a:ln/>
        </p:spPr>
        <p:txBody>
          <a:bodyPr wrap="square" lIns="0" tIns="0" rIns="0" bIns="0" rtlCol="0" anchor="t"/>
          <a:lstStyle/>
          <a:p>
            <a:pPr indent="0" marL="0">
              <a:buNone/>
            </a:pPr>
            <a:r>
              <a:rPr lang="en-US" sz="1600" dirty="0">
                <a:solidFill>
                  <a:srgbClr val="1F2D3A"/>
                </a:solidFill>
                <a:latin typeface="Calibri" pitchFamily="34" charset="0"/>
                <a:ea typeface="Calibri" pitchFamily="34" charset="-122"/>
                <a:cs typeface="Calibri" pitchFamily="34" charset="-120"/>
              </a:rPr>
              <a:t>Numeric weather codes decoded into 10 readable conditions.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PREPROCESSING</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Other preprocessing methods used</a:t>
            </a:r>
            <a:endParaRPr lang="en-US" sz="3200" dirty="0"/>
          </a:p>
        </p:txBody>
      </p:sp>
      <p:sp>
        <p:nvSpPr>
          <p:cNvPr id="4" name="Shape 2"/>
          <p:cNvSpPr/>
          <p:nvPr/>
        </p:nvSpPr>
        <p:spPr>
          <a:xfrm>
            <a:off x="548640" y="1463040"/>
            <a:ext cx="4754880" cy="4754880"/>
          </a:xfrm>
          <a:prstGeom prst="roundRect">
            <a:avLst>
              <a:gd name="adj" fmla="val 1538"/>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737360"/>
            <a:ext cx="4206240" cy="4206240"/>
          </a:xfrm>
          <a:prstGeom prst="rect">
            <a:avLst/>
          </a:prstGeom>
          <a:noFill/>
          <a:ln/>
        </p:spPr>
        <p:txBody>
          <a:bodyPr wrap="square" lIns="0" tIns="0" rIns="0" bIns="0" rtlCol="0" anchor="t"/>
          <a:lstStyle/>
          <a:p>
            <a:pPr marL="342900" indent="-342900">
              <a:spcAft>
                <a:spcPts val="1600"/>
              </a:spcAft>
              <a:buSzPct val="100000"/>
              <a:buChar char="•"/>
            </a:pPr>
            <a:r>
              <a:rPr lang="en-US" sz="1600" dirty="0">
                <a:solidFill>
                  <a:srgbClr val="1F2D3A"/>
                </a:solidFill>
                <a:latin typeface="Calibri" pitchFamily="34" charset="0"/>
                <a:ea typeface="Calibri" pitchFamily="34" charset="-122"/>
                <a:cs typeface="Calibri" pitchFamily="34" charset="-120"/>
              </a:rPr>
              <a:t>The dataset is sorted by the columns date and city</a:t>
            </a:r>
            <a:endParaRPr lang="en-US" sz="1600" dirty="0"/>
          </a:p>
          <a:p>
            <a:pPr marL="342900" indent="-342900">
              <a:spcAft>
                <a:spcPts val="1600"/>
              </a:spcAft>
              <a:buSzPct val="100000"/>
              <a:buChar char="•"/>
            </a:pPr>
            <a:r>
              <a:rPr lang="en-US" sz="1600" dirty="0">
                <a:solidFill>
                  <a:srgbClr val="1F2D3A"/>
                </a:solidFill>
                <a:latin typeface="Calibri" pitchFamily="34" charset="0"/>
                <a:ea typeface="Calibri" pitchFamily="34" charset="-122"/>
                <a:cs typeface="Calibri" pitchFamily="34" charset="-120"/>
              </a:rPr>
              <a:t>The date, given in string format, is converted into a pandas date object</a:t>
            </a:r>
            <a:endParaRPr lang="en-US" sz="1600" dirty="0"/>
          </a:p>
          <a:p>
            <a:pPr marL="342900" indent="-342900">
              <a:spcAft>
                <a:spcPts val="1600"/>
              </a:spcAft>
              <a:buSzPct val="100000"/>
              <a:buChar char="•"/>
            </a:pPr>
            <a:r>
              <a:rPr lang="en-US" sz="1600" dirty="0">
                <a:solidFill>
                  <a:srgbClr val="1F2D3A"/>
                </a:solidFill>
                <a:latin typeface="Calibri" pitchFamily="34" charset="0"/>
                <a:ea typeface="Calibri" pitchFamily="34" charset="-122"/>
                <a:cs typeface="Calibri" pitchFamily="34" charset="-120"/>
              </a:rPr>
              <a:t>The columns rain_sum and precipitation_sum indicate the same metric, so rain_sum is dropped</a:t>
            </a:r>
            <a:endParaRPr lang="en-US" sz="1600" dirty="0"/>
          </a:p>
        </p:txBody>
      </p:sp>
      <p:pic>
        <p:nvPicPr>
          <p:cNvPr id="6" name="Image 0" descr="img/a11_1.png">    </p:cNvPr>
          <p:cNvPicPr>
            <a:picLocks noChangeAspect="1"/>
          </p:cNvPicPr>
          <p:nvPr/>
        </p:nvPicPr>
        <p:blipFill>
          <a:blip r:embed="rId1"/>
          <a:stretch>
            <a:fillRect/>
          </a:stretch>
        </p:blipFill>
        <p:spPr>
          <a:xfrm>
            <a:off x="5577840" y="1887738"/>
            <a:ext cx="6062472" cy="1436605"/>
          </a:xfrm>
          <a:prstGeom prst="rect">
            <a:avLst/>
          </a:prstGeom>
        </p:spPr>
      </p:pic>
      <p:pic>
        <p:nvPicPr>
          <p:cNvPr id="7" name="Image 1" descr="img/a11_2.png">    </p:cNvPr>
          <p:cNvPicPr>
            <a:picLocks noChangeAspect="1"/>
          </p:cNvPicPr>
          <p:nvPr/>
        </p:nvPicPr>
        <p:blipFill>
          <a:blip r:embed="rId2"/>
          <a:stretch>
            <a:fillRect/>
          </a:stretch>
        </p:blipFill>
        <p:spPr>
          <a:xfrm>
            <a:off x="5577840" y="4202065"/>
            <a:ext cx="6062472" cy="92275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EXPLORATORY ANALYSIS</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Approach: from raw data to insights</a:t>
            </a:r>
            <a:endParaRPr lang="en-US" sz="3200" dirty="0"/>
          </a:p>
        </p:txBody>
      </p:sp>
      <p:sp>
        <p:nvSpPr>
          <p:cNvPr id="4" name="Shape 2"/>
          <p:cNvSpPr/>
          <p:nvPr/>
        </p:nvSpPr>
        <p:spPr>
          <a:xfrm>
            <a:off x="548640" y="1828800"/>
            <a:ext cx="2057400" cy="2926080"/>
          </a:xfrm>
          <a:prstGeom prst="roundRect">
            <a:avLst>
              <a:gd name="adj" fmla="val 3556"/>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1280160" y="2103120"/>
            <a:ext cx="594360" cy="594360"/>
          </a:xfrm>
          <a:prstGeom prst="ellipse">
            <a:avLst/>
          </a:prstGeom>
          <a:solidFill>
            <a:srgbClr val="12263F"/>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731520" y="2926080"/>
            <a:ext cx="1691640" cy="365760"/>
          </a:xfrm>
          <a:prstGeom prst="rect">
            <a:avLst/>
          </a:prstGeom>
          <a:noFill/>
          <a:ln/>
        </p:spPr>
        <p:txBody>
          <a:bodyPr wrap="square" lIns="0" tIns="0" rIns="0" bIns="0" rtlCol="0" anchor="t"/>
          <a:lstStyle/>
          <a:p>
            <a:pPr algn="ctr" indent="0" marL="0">
              <a:buNone/>
            </a:pPr>
            <a:r>
              <a:rPr lang="en-US" sz="1800" b="1" dirty="0">
                <a:solidFill>
                  <a:srgbClr val="12263F"/>
                </a:solidFill>
                <a:latin typeface="Cambria" pitchFamily="34" charset="0"/>
                <a:ea typeface="Cambria" pitchFamily="34" charset="-122"/>
                <a:cs typeface="Cambria" pitchFamily="34" charset="-120"/>
              </a:rPr>
              <a:t>Data</a:t>
            </a:r>
            <a:endParaRPr lang="en-US" sz="1800" dirty="0"/>
          </a:p>
        </p:txBody>
      </p:sp>
      <p:sp>
        <p:nvSpPr>
          <p:cNvPr id="7" name="Text 5"/>
          <p:cNvSpPr txBox="1"/>
          <p:nvPr/>
        </p:nvSpPr>
        <p:spPr>
          <a:xfrm>
            <a:off x="731520" y="3429000"/>
            <a:ext cx="1691640" cy="1188720"/>
          </a:xfrm>
          <a:prstGeom prst="rect">
            <a:avLst/>
          </a:prstGeom>
          <a:noFill/>
          <a:ln/>
        </p:spPr>
        <p:txBody>
          <a:bodyPr wrap="square" lIns="0" tIns="0" rIns="0" bIns="0" rtlCol="0" anchor="t"/>
          <a:lstStyle/>
          <a:p>
            <a:pPr algn="ctr" indent="0" marL="0">
              <a:buNone/>
            </a:pPr>
            <a:r>
              <a:rPr lang="en-US" sz="1400" dirty="0">
                <a:solidFill>
                  <a:srgbClr val="5B6B7A"/>
                </a:solidFill>
                <a:latin typeface="Calibri" pitchFamily="34" charset="0"/>
                <a:ea typeface="Calibri" pitchFamily="34" charset="-122"/>
                <a:cs typeface="Calibri" pitchFamily="34" charset="-120"/>
              </a:rPr>
              <a:t>Load preprocessed daily records</a:t>
            </a:r>
            <a:endParaRPr lang="en-US" sz="1400" dirty="0"/>
          </a:p>
        </p:txBody>
      </p:sp>
      <p:sp>
        <p:nvSpPr>
          <p:cNvPr id="8" name="Shape 6"/>
          <p:cNvSpPr/>
          <p:nvPr/>
        </p:nvSpPr>
        <p:spPr>
          <a:xfrm>
            <a:off x="2807208" y="1828800"/>
            <a:ext cx="2057400" cy="2926080"/>
          </a:xfrm>
          <a:prstGeom prst="roundRect">
            <a:avLst>
              <a:gd name="adj" fmla="val 3556"/>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3538728" y="2103120"/>
            <a:ext cx="594360" cy="594360"/>
          </a:xfrm>
          <a:prstGeom prst="ellipse">
            <a:avLst/>
          </a:prstGeom>
          <a:solidFill>
            <a:srgbClr val="1F7A8C"/>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2990088" y="2926080"/>
            <a:ext cx="1691640" cy="365760"/>
          </a:xfrm>
          <a:prstGeom prst="rect">
            <a:avLst/>
          </a:prstGeom>
          <a:noFill/>
          <a:ln/>
        </p:spPr>
        <p:txBody>
          <a:bodyPr wrap="square" lIns="0" tIns="0" rIns="0" bIns="0" rtlCol="0" anchor="t"/>
          <a:lstStyle/>
          <a:p>
            <a:pPr algn="ctr" indent="0" marL="0">
              <a:buNone/>
            </a:pPr>
            <a:r>
              <a:rPr lang="en-US" sz="1800" b="1" dirty="0">
                <a:solidFill>
                  <a:srgbClr val="12263F"/>
                </a:solidFill>
                <a:latin typeface="Cambria" pitchFamily="34" charset="0"/>
                <a:ea typeface="Cambria" pitchFamily="34" charset="-122"/>
                <a:cs typeface="Cambria" pitchFamily="34" charset="-120"/>
              </a:rPr>
              <a:t>Univariate</a:t>
            </a:r>
            <a:endParaRPr lang="en-US" sz="1800" dirty="0"/>
          </a:p>
        </p:txBody>
      </p:sp>
      <p:sp>
        <p:nvSpPr>
          <p:cNvPr id="11" name="Text 9"/>
          <p:cNvSpPr txBox="1"/>
          <p:nvPr/>
        </p:nvSpPr>
        <p:spPr>
          <a:xfrm>
            <a:off x="2990088" y="3429000"/>
            <a:ext cx="1691640" cy="1188720"/>
          </a:xfrm>
          <a:prstGeom prst="rect">
            <a:avLst/>
          </a:prstGeom>
          <a:noFill/>
          <a:ln/>
        </p:spPr>
        <p:txBody>
          <a:bodyPr wrap="square" lIns="0" tIns="0" rIns="0" bIns="0" rtlCol="0" anchor="t"/>
          <a:lstStyle/>
          <a:p>
            <a:pPr algn="ctr" indent="0" marL="0">
              <a:buNone/>
            </a:pPr>
            <a:r>
              <a:rPr lang="en-US" sz="1400" dirty="0">
                <a:solidFill>
                  <a:srgbClr val="5B6B7A"/>
                </a:solidFill>
                <a:latin typeface="Calibri" pitchFamily="34" charset="0"/>
                <a:ea typeface="Calibri" pitchFamily="34" charset="-122"/>
                <a:cs typeface="Calibri" pitchFamily="34" charset="-120"/>
              </a:rPr>
              <a:t>Distributions of temperature, rain, conditions</a:t>
            </a:r>
            <a:endParaRPr lang="en-US" sz="1400" dirty="0"/>
          </a:p>
        </p:txBody>
      </p:sp>
      <p:sp>
        <p:nvSpPr>
          <p:cNvPr id="12" name="Shape 10"/>
          <p:cNvSpPr/>
          <p:nvPr/>
        </p:nvSpPr>
        <p:spPr>
          <a:xfrm>
            <a:off x="5065776" y="1828800"/>
            <a:ext cx="2057400" cy="2926080"/>
          </a:xfrm>
          <a:prstGeom prst="roundRect">
            <a:avLst>
              <a:gd name="adj" fmla="val 3556"/>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5797296" y="2103120"/>
            <a:ext cx="594360" cy="594360"/>
          </a:xfrm>
          <a:prstGeom prst="ellipse">
            <a:avLst/>
          </a:prstGeom>
          <a:solidFill>
            <a:srgbClr val="12263F"/>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txBox="1"/>
          <p:nvPr/>
        </p:nvSpPr>
        <p:spPr>
          <a:xfrm>
            <a:off x="5248656" y="2926080"/>
            <a:ext cx="1691640" cy="365760"/>
          </a:xfrm>
          <a:prstGeom prst="rect">
            <a:avLst/>
          </a:prstGeom>
          <a:noFill/>
          <a:ln/>
        </p:spPr>
        <p:txBody>
          <a:bodyPr wrap="square" lIns="0" tIns="0" rIns="0" bIns="0" rtlCol="0" anchor="t"/>
          <a:lstStyle/>
          <a:p>
            <a:pPr algn="ctr" indent="0" marL="0">
              <a:buNone/>
            </a:pPr>
            <a:r>
              <a:rPr lang="en-US" sz="1800" b="1" dirty="0">
                <a:solidFill>
                  <a:srgbClr val="12263F"/>
                </a:solidFill>
                <a:latin typeface="Cambria" pitchFamily="34" charset="0"/>
                <a:ea typeface="Cambria" pitchFamily="34" charset="-122"/>
                <a:cs typeface="Cambria" pitchFamily="34" charset="-120"/>
              </a:rPr>
              <a:t>Groups</a:t>
            </a:r>
            <a:endParaRPr lang="en-US" sz="1800" dirty="0"/>
          </a:p>
        </p:txBody>
      </p:sp>
      <p:sp>
        <p:nvSpPr>
          <p:cNvPr id="15" name="Text 13"/>
          <p:cNvSpPr txBox="1"/>
          <p:nvPr/>
        </p:nvSpPr>
        <p:spPr>
          <a:xfrm>
            <a:off x="5248656" y="3429000"/>
            <a:ext cx="1691640" cy="1188720"/>
          </a:xfrm>
          <a:prstGeom prst="rect">
            <a:avLst/>
          </a:prstGeom>
          <a:noFill/>
          <a:ln/>
        </p:spPr>
        <p:txBody>
          <a:bodyPr wrap="square" lIns="0" tIns="0" rIns="0" bIns="0" rtlCol="0" anchor="t"/>
          <a:lstStyle/>
          <a:p>
            <a:pPr algn="ctr" indent="0" marL="0">
              <a:buNone/>
            </a:pPr>
            <a:r>
              <a:rPr lang="en-US" sz="1400" dirty="0">
                <a:solidFill>
                  <a:srgbClr val="5B6B7A"/>
                </a:solidFill>
                <a:latin typeface="Calibri" pitchFamily="34" charset="0"/>
                <a:ea typeface="Calibri" pitchFamily="34" charset="-122"/>
                <a:cs typeface="Calibri" pitchFamily="34" charset="-120"/>
              </a:rPr>
              <a:t>Compare seasons and cities</a:t>
            </a:r>
            <a:endParaRPr lang="en-US" sz="1400" dirty="0"/>
          </a:p>
        </p:txBody>
      </p:sp>
      <p:sp>
        <p:nvSpPr>
          <p:cNvPr id="16" name="Shape 14"/>
          <p:cNvSpPr/>
          <p:nvPr/>
        </p:nvSpPr>
        <p:spPr>
          <a:xfrm>
            <a:off x="7324344" y="1828800"/>
            <a:ext cx="2057400" cy="2926080"/>
          </a:xfrm>
          <a:prstGeom prst="roundRect">
            <a:avLst>
              <a:gd name="adj" fmla="val 3556"/>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8055864" y="2103120"/>
            <a:ext cx="594360" cy="594360"/>
          </a:xfrm>
          <a:prstGeom prst="ellipse">
            <a:avLst/>
          </a:prstGeom>
          <a:solidFill>
            <a:srgbClr val="1F7A8C"/>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8" name="Text 16"/>
          <p:cNvSpPr txBox="1"/>
          <p:nvPr/>
        </p:nvSpPr>
        <p:spPr>
          <a:xfrm>
            <a:off x="7507224" y="2926080"/>
            <a:ext cx="1691640" cy="365760"/>
          </a:xfrm>
          <a:prstGeom prst="rect">
            <a:avLst/>
          </a:prstGeom>
          <a:noFill/>
          <a:ln/>
        </p:spPr>
        <p:txBody>
          <a:bodyPr wrap="square" lIns="0" tIns="0" rIns="0" bIns="0" rtlCol="0" anchor="t"/>
          <a:lstStyle/>
          <a:p>
            <a:pPr algn="ctr" indent="0" marL="0">
              <a:buNone/>
            </a:pPr>
            <a:r>
              <a:rPr lang="en-US" sz="1800" b="1" dirty="0">
                <a:solidFill>
                  <a:srgbClr val="12263F"/>
                </a:solidFill>
                <a:latin typeface="Cambria" pitchFamily="34" charset="0"/>
                <a:ea typeface="Cambria" pitchFamily="34" charset="-122"/>
                <a:cs typeface="Cambria" pitchFamily="34" charset="-120"/>
              </a:rPr>
              <a:t>Relationships</a:t>
            </a:r>
            <a:endParaRPr lang="en-US" sz="1800" dirty="0"/>
          </a:p>
        </p:txBody>
      </p:sp>
      <p:sp>
        <p:nvSpPr>
          <p:cNvPr id="19" name="Text 17"/>
          <p:cNvSpPr txBox="1"/>
          <p:nvPr/>
        </p:nvSpPr>
        <p:spPr>
          <a:xfrm>
            <a:off x="7507224" y="3429000"/>
            <a:ext cx="1691640" cy="1188720"/>
          </a:xfrm>
          <a:prstGeom prst="rect">
            <a:avLst/>
          </a:prstGeom>
          <a:noFill/>
          <a:ln/>
        </p:spPr>
        <p:txBody>
          <a:bodyPr wrap="square" lIns="0" tIns="0" rIns="0" bIns="0" rtlCol="0" anchor="t"/>
          <a:lstStyle/>
          <a:p>
            <a:pPr algn="ctr" indent="0" marL="0">
              <a:buNone/>
            </a:pPr>
            <a:r>
              <a:rPr lang="en-US" sz="1400" dirty="0">
                <a:solidFill>
                  <a:srgbClr val="5B6B7A"/>
                </a:solidFill>
                <a:latin typeface="Calibri" pitchFamily="34" charset="0"/>
                <a:ea typeface="Calibri" pitchFamily="34" charset="-122"/>
                <a:cs typeface="Calibri" pitchFamily="34" charset="-120"/>
              </a:rPr>
              <a:t>Scatter plots and correlations</a:t>
            </a:r>
            <a:endParaRPr lang="en-US" sz="1400" dirty="0"/>
          </a:p>
        </p:txBody>
      </p:sp>
      <p:sp>
        <p:nvSpPr>
          <p:cNvPr id="20" name="Shape 18"/>
          <p:cNvSpPr/>
          <p:nvPr/>
        </p:nvSpPr>
        <p:spPr>
          <a:xfrm>
            <a:off x="9582912" y="1828800"/>
            <a:ext cx="2057400" cy="2926080"/>
          </a:xfrm>
          <a:prstGeom prst="roundRect">
            <a:avLst>
              <a:gd name="adj" fmla="val 3556"/>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21" name="Text 19"/>
          <p:cNvSpPr txBox="1"/>
          <p:nvPr/>
        </p:nvSpPr>
        <p:spPr>
          <a:xfrm>
            <a:off x="10314432" y="2103120"/>
            <a:ext cx="594360" cy="594360"/>
          </a:xfrm>
          <a:prstGeom prst="ellipse">
            <a:avLst/>
          </a:prstGeom>
          <a:solidFill>
            <a:srgbClr val="12263F"/>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2" name="Text 20"/>
          <p:cNvSpPr txBox="1"/>
          <p:nvPr/>
        </p:nvSpPr>
        <p:spPr>
          <a:xfrm>
            <a:off x="9765792" y="2926080"/>
            <a:ext cx="1691640" cy="365760"/>
          </a:xfrm>
          <a:prstGeom prst="rect">
            <a:avLst/>
          </a:prstGeom>
          <a:noFill/>
          <a:ln/>
        </p:spPr>
        <p:txBody>
          <a:bodyPr wrap="square" lIns="0" tIns="0" rIns="0" bIns="0" rtlCol="0" anchor="t"/>
          <a:lstStyle/>
          <a:p>
            <a:pPr algn="ctr" indent="0" marL="0">
              <a:buNone/>
            </a:pPr>
            <a:r>
              <a:rPr lang="en-US" sz="1800" b="1" dirty="0">
                <a:solidFill>
                  <a:srgbClr val="12263F"/>
                </a:solidFill>
                <a:latin typeface="Cambria" pitchFamily="34" charset="0"/>
                <a:ea typeface="Cambria" pitchFamily="34" charset="-122"/>
                <a:cs typeface="Cambria" pitchFamily="34" charset="-120"/>
              </a:rPr>
              <a:t>Time</a:t>
            </a:r>
            <a:endParaRPr lang="en-US" sz="1800" dirty="0"/>
          </a:p>
        </p:txBody>
      </p:sp>
      <p:sp>
        <p:nvSpPr>
          <p:cNvPr id="23" name="Text 21"/>
          <p:cNvSpPr txBox="1"/>
          <p:nvPr/>
        </p:nvSpPr>
        <p:spPr>
          <a:xfrm>
            <a:off x="9765792" y="3429000"/>
            <a:ext cx="1691640" cy="1188720"/>
          </a:xfrm>
          <a:prstGeom prst="rect">
            <a:avLst/>
          </a:prstGeom>
          <a:noFill/>
          <a:ln/>
        </p:spPr>
        <p:txBody>
          <a:bodyPr wrap="square" lIns="0" tIns="0" rIns="0" bIns="0" rtlCol="0" anchor="t"/>
          <a:lstStyle/>
          <a:p>
            <a:pPr algn="ctr" indent="0" marL="0">
              <a:buNone/>
            </a:pPr>
            <a:r>
              <a:rPr lang="en-US" sz="1400" dirty="0">
                <a:solidFill>
                  <a:srgbClr val="5B6B7A"/>
                </a:solidFill>
                <a:latin typeface="Calibri" pitchFamily="34" charset="0"/>
                <a:ea typeface="Calibri" pitchFamily="34" charset="-122"/>
                <a:cs typeface="Calibri" pitchFamily="34" charset="-120"/>
              </a:rPr>
              <a:t>Yearly trends and monthly seasonality</a:t>
            </a:r>
            <a:endParaRPr lang="en-US" sz="1400" dirty="0"/>
          </a:p>
        </p:txBody>
      </p:sp>
      <p:sp>
        <p:nvSpPr>
          <p:cNvPr id="24" name="Text 22"/>
          <p:cNvSpPr txBox="1"/>
          <p:nvPr/>
        </p:nvSpPr>
        <p:spPr>
          <a:xfrm>
            <a:off x="548640" y="5212080"/>
            <a:ext cx="10972800" cy="3657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All charts were built in Python with pandas and matplotlib.</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EXPLORATORY ANALYSIS</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Daily maximum temperature</a:t>
            </a:r>
            <a:endParaRPr lang="en-US" sz="3200" dirty="0"/>
          </a:p>
        </p:txBody>
      </p:sp>
      <p:sp>
        <p:nvSpPr>
          <p:cNvPr id="4" name="Shape 2"/>
          <p:cNvSpPr/>
          <p:nvPr/>
        </p:nvSpPr>
        <p:spPr>
          <a:xfrm>
            <a:off x="548640" y="1463040"/>
            <a:ext cx="7315200" cy="4754880"/>
          </a:xfrm>
          <a:prstGeom prst="roundRect">
            <a:avLst>
              <a:gd name="adj" fmla="val 1538"/>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pic>
        <p:nvPicPr>
          <p:cNvPr id="5" name="Image 0" descr="img/b5_1.png">    </p:cNvPr>
          <p:cNvPicPr>
            <a:picLocks noChangeAspect="1"/>
          </p:cNvPicPr>
          <p:nvPr/>
        </p:nvPicPr>
        <p:blipFill>
          <a:blip r:embed="rId1"/>
          <a:stretch>
            <a:fillRect/>
          </a:stretch>
        </p:blipFill>
        <p:spPr>
          <a:xfrm>
            <a:off x="731520" y="2120322"/>
            <a:ext cx="6949440" cy="3440317"/>
          </a:xfrm>
          <a:prstGeom prst="rect">
            <a:avLst/>
          </a:prstGeom>
        </p:spPr>
      </p:pic>
      <p:sp>
        <p:nvSpPr>
          <p:cNvPr id="6" name="Shape 3"/>
          <p:cNvSpPr/>
          <p:nvPr/>
        </p:nvSpPr>
        <p:spPr>
          <a:xfrm>
            <a:off x="8138160" y="1463040"/>
            <a:ext cx="3502152" cy="4754880"/>
          </a:xfrm>
          <a:prstGeom prst="roundRect">
            <a:avLst>
              <a:gd name="adj" fmla="val 2089"/>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8412480" y="1691640"/>
            <a:ext cx="2953512" cy="365760"/>
          </a:xfrm>
          <a:prstGeom prst="rect">
            <a:avLst/>
          </a:prstGeom>
          <a:noFill/>
          <a:ln/>
        </p:spPr>
        <p:txBody>
          <a:bodyPr wrap="square" lIns="0" tIns="0" rIns="0" bIns="0" rtlCol="0" anchor="t"/>
          <a:lstStyle/>
          <a:p>
            <a:pPr indent="0" marL="0">
              <a:buNone/>
            </a:pPr>
            <a:r>
              <a:rPr lang="en-US" sz="1700" b="1" dirty="0">
                <a:solidFill>
                  <a:srgbClr val="1F7A8C"/>
                </a:solidFill>
                <a:latin typeface="Cambria" pitchFamily="34" charset="0"/>
                <a:ea typeface="Cambria" pitchFamily="34" charset="-122"/>
                <a:cs typeface="Cambria" pitchFamily="34" charset="-120"/>
              </a:rPr>
              <a:t>Key insight</a:t>
            </a:r>
            <a:endParaRPr lang="en-US" sz="1700" dirty="0"/>
          </a:p>
        </p:txBody>
      </p:sp>
      <p:sp>
        <p:nvSpPr>
          <p:cNvPr id="8" name="Text 5"/>
          <p:cNvSpPr txBox="1"/>
          <p:nvPr/>
        </p:nvSpPr>
        <p:spPr>
          <a:xfrm>
            <a:off x="8412480" y="2194560"/>
            <a:ext cx="2953512" cy="3840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D3A"/>
                </a:solidFill>
                <a:latin typeface="Calibri" pitchFamily="34" charset="0"/>
                <a:ea typeface="Calibri" pitchFamily="34" charset="-122"/>
                <a:cs typeface="Calibri" pitchFamily="34" charset="-120"/>
              </a:rPr>
              <a:t>Roughly bell-shaped, centered near 30–32°C</a:t>
            </a:r>
            <a:endParaRPr lang="en-US" sz="1500" dirty="0"/>
          </a:p>
          <a:p>
            <a:pPr marL="342900" indent="-342900">
              <a:spcAft>
                <a:spcPts val="800"/>
              </a:spcAft>
              <a:buSzPct val="100000"/>
              <a:buChar char="•"/>
            </a:pPr>
            <a:r>
              <a:rPr lang="en-US" sz="1500" dirty="0">
                <a:solidFill>
                  <a:srgbClr val="1F2D3A"/>
                </a:solidFill>
                <a:latin typeface="Calibri" pitchFamily="34" charset="0"/>
                <a:ea typeface="Calibri" pitchFamily="34" charset="-122"/>
                <a:cs typeface="Calibri" pitchFamily="34" charset="-120"/>
              </a:rPr>
              <a:t>Range runs from about 12°C to 46°C across cities</a:t>
            </a:r>
            <a:endParaRPr lang="en-US" sz="1500" dirty="0"/>
          </a:p>
          <a:p>
            <a:pPr marL="342900" indent="-342900">
              <a:spcAft>
                <a:spcPts val="800"/>
              </a:spcAft>
              <a:buSzPct val="100000"/>
              <a:buChar char="•"/>
            </a:pPr>
            <a:r>
              <a:rPr lang="en-US" sz="1500" dirty="0">
                <a:solidFill>
                  <a:srgbClr val="1F2D3A"/>
                </a:solidFill>
                <a:latin typeface="Calibri" pitchFamily="34" charset="0"/>
                <a:ea typeface="Calibri" pitchFamily="34" charset="-122"/>
                <a:cs typeface="Calibri" pitchFamily="34" charset="-120"/>
              </a:rPr>
              <a:t>A mild left tail comes from cooler winter days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EXPLORATORY ANALYSIS</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Max vs min temperature</a:t>
            </a:r>
            <a:endParaRPr lang="en-US" sz="3200" dirty="0"/>
          </a:p>
        </p:txBody>
      </p:sp>
      <p:sp>
        <p:nvSpPr>
          <p:cNvPr id="4" name="Shape 2"/>
          <p:cNvSpPr/>
          <p:nvPr/>
        </p:nvSpPr>
        <p:spPr>
          <a:xfrm>
            <a:off x="548640" y="1463040"/>
            <a:ext cx="7315200" cy="4754880"/>
          </a:xfrm>
          <a:prstGeom prst="roundRect">
            <a:avLst>
              <a:gd name="adj" fmla="val 1538"/>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pic>
        <p:nvPicPr>
          <p:cNvPr id="5" name="Image 0" descr="img/b6_1.png">    </p:cNvPr>
          <p:cNvPicPr>
            <a:picLocks noChangeAspect="1"/>
          </p:cNvPicPr>
          <p:nvPr/>
        </p:nvPicPr>
        <p:blipFill>
          <a:blip r:embed="rId1"/>
          <a:stretch>
            <a:fillRect/>
          </a:stretch>
        </p:blipFill>
        <p:spPr>
          <a:xfrm>
            <a:off x="731520" y="2120322"/>
            <a:ext cx="6949440" cy="3440317"/>
          </a:xfrm>
          <a:prstGeom prst="rect">
            <a:avLst/>
          </a:prstGeom>
        </p:spPr>
      </p:pic>
      <p:sp>
        <p:nvSpPr>
          <p:cNvPr id="6" name="Shape 3"/>
          <p:cNvSpPr/>
          <p:nvPr/>
        </p:nvSpPr>
        <p:spPr>
          <a:xfrm>
            <a:off x="8138160" y="1463040"/>
            <a:ext cx="3502152" cy="4754880"/>
          </a:xfrm>
          <a:prstGeom prst="roundRect">
            <a:avLst>
              <a:gd name="adj" fmla="val 2089"/>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8412480" y="1691640"/>
            <a:ext cx="2953512" cy="365760"/>
          </a:xfrm>
          <a:prstGeom prst="rect">
            <a:avLst/>
          </a:prstGeom>
          <a:noFill/>
          <a:ln/>
        </p:spPr>
        <p:txBody>
          <a:bodyPr wrap="square" lIns="0" tIns="0" rIns="0" bIns="0" rtlCol="0" anchor="t"/>
          <a:lstStyle/>
          <a:p>
            <a:pPr indent="0" marL="0">
              <a:buNone/>
            </a:pPr>
            <a:r>
              <a:rPr lang="en-US" sz="1700" b="1" dirty="0">
                <a:solidFill>
                  <a:srgbClr val="1F7A8C"/>
                </a:solidFill>
                <a:latin typeface="Cambria" pitchFamily="34" charset="0"/>
                <a:ea typeface="Cambria" pitchFamily="34" charset="-122"/>
                <a:cs typeface="Cambria" pitchFamily="34" charset="-120"/>
              </a:rPr>
              <a:t>Key insight</a:t>
            </a:r>
            <a:endParaRPr lang="en-US" sz="1700" dirty="0"/>
          </a:p>
        </p:txBody>
      </p:sp>
      <p:sp>
        <p:nvSpPr>
          <p:cNvPr id="8" name="Text 5"/>
          <p:cNvSpPr txBox="1"/>
          <p:nvPr/>
        </p:nvSpPr>
        <p:spPr>
          <a:xfrm>
            <a:off x="8412480" y="2194560"/>
            <a:ext cx="2953512" cy="3840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D3A"/>
                </a:solidFill>
                <a:latin typeface="Calibri" pitchFamily="34" charset="0"/>
                <a:ea typeface="Calibri" pitchFamily="34" charset="-122"/>
                <a:cs typeface="Calibri" pitchFamily="34" charset="-120"/>
              </a:rPr>
              <a:t>Max temps cluster around 27–35°C</a:t>
            </a:r>
            <a:endParaRPr lang="en-US" sz="1500" dirty="0"/>
          </a:p>
          <a:p>
            <a:pPr marL="342900" indent="-342900">
              <a:spcAft>
                <a:spcPts val="800"/>
              </a:spcAft>
              <a:buSzPct val="100000"/>
              <a:buChar char="•"/>
            </a:pPr>
            <a:r>
              <a:rPr lang="en-US" sz="1500" dirty="0">
                <a:solidFill>
                  <a:srgbClr val="1F2D3A"/>
                </a:solidFill>
                <a:latin typeface="Calibri" pitchFamily="34" charset="0"/>
                <a:ea typeface="Calibri" pitchFamily="34" charset="-122"/>
                <a:cs typeface="Calibri" pitchFamily="34" charset="-120"/>
              </a:rPr>
              <a:t>Min temps peak near 25°C but spread much wider</a:t>
            </a:r>
            <a:endParaRPr lang="en-US" sz="1500" dirty="0"/>
          </a:p>
          <a:p>
            <a:pPr marL="342900" indent="-342900">
              <a:spcAft>
                <a:spcPts val="800"/>
              </a:spcAft>
              <a:buSzPct val="100000"/>
              <a:buChar char="•"/>
            </a:pPr>
            <a:r>
              <a:rPr lang="en-US" sz="1500" dirty="0">
                <a:solidFill>
                  <a:srgbClr val="1F2D3A"/>
                </a:solidFill>
                <a:latin typeface="Calibri" pitchFamily="34" charset="0"/>
                <a:ea typeface="Calibri" pitchFamily="34" charset="-122"/>
                <a:cs typeface="Calibri" pitchFamily="34" charset="-120"/>
              </a:rPr>
              <a:t>Distributions overlap in the 25–28°C band</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EXPLORATORY ANALYSIS</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Precipitation: raw vs log</a:t>
            </a:r>
            <a:endParaRPr lang="en-US" sz="3200" dirty="0"/>
          </a:p>
        </p:txBody>
      </p:sp>
      <p:sp>
        <p:nvSpPr>
          <p:cNvPr id="4" name="Shape 2"/>
          <p:cNvSpPr/>
          <p:nvPr/>
        </p:nvSpPr>
        <p:spPr>
          <a:xfrm>
            <a:off x="548640" y="1463040"/>
            <a:ext cx="7315200" cy="4754880"/>
          </a:xfrm>
          <a:prstGeom prst="roundRect">
            <a:avLst>
              <a:gd name="adj" fmla="val 1538"/>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pic>
        <p:nvPicPr>
          <p:cNvPr id="5" name="Image 0" descr="img/b7_1.png">    </p:cNvPr>
          <p:cNvPicPr>
            <a:picLocks noChangeAspect="1"/>
          </p:cNvPicPr>
          <p:nvPr/>
        </p:nvPicPr>
        <p:blipFill>
          <a:blip r:embed="rId1"/>
          <a:stretch>
            <a:fillRect/>
          </a:stretch>
        </p:blipFill>
        <p:spPr>
          <a:xfrm>
            <a:off x="731520" y="2392680"/>
            <a:ext cx="6949440" cy="2895600"/>
          </a:xfrm>
          <a:prstGeom prst="rect">
            <a:avLst/>
          </a:prstGeom>
        </p:spPr>
      </p:pic>
      <p:sp>
        <p:nvSpPr>
          <p:cNvPr id="6" name="Shape 3"/>
          <p:cNvSpPr/>
          <p:nvPr/>
        </p:nvSpPr>
        <p:spPr>
          <a:xfrm>
            <a:off x="8138160" y="1463040"/>
            <a:ext cx="3502152" cy="4754880"/>
          </a:xfrm>
          <a:prstGeom prst="roundRect">
            <a:avLst>
              <a:gd name="adj" fmla="val 2089"/>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8412480" y="1691640"/>
            <a:ext cx="2953512" cy="365760"/>
          </a:xfrm>
          <a:prstGeom prst="rect">
            <a:avLst/>
          </a:prstGeom>
          <a:noFill/>
          <a:ln/>
        </p:spPr>
        <p:txBody>
          <a:bodyPr wrap="square" lIns="0" tIns="0" rIns="0" bIns="0" rtlCol="0" anchor="t"/>
          <a:lstStyle/>
          <a:p>
            <a:pPr indent="0" marL="0">
              <a:buNone/>
            </a:pPr>
            <a:r>
              <a:rPr lang="en-US" sz="1700" b="1" dirty="0">
                <a:solidFill>
                  <a:srgbClr val="1F7A8C"/>
                </a:solidFill>
                <a:latin typeface="Cambria" pitchFamily="34" charset="0"/>
                <a:ea typeface="Cambria" pitchFamily="34" charset="-122"/>
                <a:cs typeface="Cambria" pitchFamily="34" charset="-120"/>
              </a:rPr>
              <a:t>Key insight</a:t>
            </a:r>
            <a:endParaRPr lang="en-US" sz="1700" dirty="0"/>
          </a:p>
        </p:txBody>
      </p:sp>
      <p:sp>
        <p:nvSpPr>
          <p:cNvPr id="8" name="Text 5"/>
          <p:cNvSpPr txBox="1"/>
          <p:nvPr/>
        </p:nvSpPr>
        <p:spPr>
          <a:xfrm>
            <a:off x="8412480" y="2194560"/>
            <a:ext cx="2953512" cy="3840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D3A"/>
                </a:solidFill>
                <a:latin typeface="Calibri" pitchFamily="34" charset="0"/>
                <a:ea typeface="Calibri" pitchFamily="34" charset="-122"/>
                <a:cs typeface="Calibri" pitchFamily="34" charset="-120"/>
              </a:rPr>
              <a:t>Most days record zero or near-zero rain</a:t>
            </a:r>
            <a:endParaRPr lang="en-US" sz="1500" dirty="0"/>
          </a:p>
          <a:p>
            <a:pPr marL="342900" indent="-342900">
              <a:spcAft>
                <a:spcPts val="800"/>
              </a:spcAft>
              <a:buSzPct val="100000"/>
              <a:buChar char="•"/>
            </a:pPr>
            <a:r>
              <a:rPr lang="en-US" sz="1500" dirty="0">
                <a:solidFill>
                  <a:srgbClr val="1F2D3A"/>
                </a:solidFill>
                <a:latin typeface="Calibri" pitchFamily="34" charset="0"/>
                <a:ea typeface="Calibri" pitchFamily="34" charset="-122"/>
                <a:cs typeface="Calibri" pitchFamily="34" charset="-120"/>
              </a:rPr>
              <a:t>Extreme days reach about 340 mm</a:t>
            </a:r>
            <a:endParaRPr lang="en-US" sz="1500" dirty="0"/>
          </a:p>
          <a:p>
            <a:pPr marL="342900" indent="-342900">
              <a:spcAft>
                <a:spcPts val="800"/>
              </a:spcAft>
              <a:buSzPct val="100000"/>
              <a:buChar char="•"/>
            </a:pPr>
            <a:r>
              <a:rPr lang="en-US" sz="1500" dirty="0">
                <a:solidFill>
                  <a:srgbClr val="1F2D3A"/>
                </a:solidFill>
                <a:latin typeface="Calibri" pitchFamily="34" charset="0"/>
                <a:ea typeface="Calibri" pitchFamily="34" charset="-122"/>
                <a:cs typeface="Calibri" pitchFamily="34" charset="-120"/>
              </a:rPr>
              <a:t>log(1 + rain) compresses the long tail for modeling</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EXPLORATORY ANALYSIS</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Weather condition frequency</a:t>
            </a:r>
            <a:endParaRPr lang="en-US" sz="3200" dirty="0"/>
          </a:p>
        </p:txBody>
      </p:sp>
      <p:sp>
        <p:nvSpPr>
          <p:cNvPr id="4" name="Shape 2"/>
          <p:cNvSpPr/>
          <p:nvPr/>
        </p:nvSpPr>
        <p:spPr>
          <a:xfrm>
            <a:off x="548640" y="1463040"/>
            <a:ext cx="7315200" cy="4754880"/>
          </a:xfrm>
          <a:prstGeom prst="roundRect">
            <a:avLst>
              <a:gd name="adj" fmla="val 1538"/>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pic>
        <p:nvPicPr>
          <p:cNvPr id="5" name="Image 0" descr="img/b8_1.png">    </p:cNvPr>
          <p:cNvPicPr>
            <a:picLocks noChangeAspect="1"/>
          </p:cNvPicPr>
          <p:nvPr/>
        </p:nvPicPr>
        <p:blipFill>
          <a:blip r:embed="rId1"/>
          <a:stretch>
            <a:fillRect/>
          </a:stretch>
        </p:blipFill>
        <p:spPr>
          <a:xfrm>
            <a:off x="731520" y="2120322"/>
            <a:ext cx="6949440" cy="3440317"/>
          </a:xfrm>
          <a:prstGeom prst="rect">
            <a:avLst/>
          </a:prstGeom>
        </p:spPr>
      </p:pic>
      <p:sp>
        <p:nvSpPr>
          <p:cNvPr id="6" name="Shape 3"/>
          <p:cNvSpPr/>
          <p:nvPr/>
        </p:nvSpPr>
        <p:spPr>
          <a:xfrm>
            <a:off x="8138160" y="1463040"/>
            <a:ext cx="3502152" cy="4754880"/>
          </a:xfrm>
          <a:prstGeom prst="roundRect">
            <a:avLst>
              <a:gd name="adj" fmla="val 2089"/>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8412480" y="1691640"/>
            <a:ext cx="2953512" cy="365760"/>
          </a:xfrm>
          <a:prstGeom prst="rect">
            <a:avLst/>
          </a:prstGeom>
          <a:noFill/>
          <a:ln/>
        </p:spPr>
        <p:txBody>
          <a:bodyPr wrap="square" lIns="0" tIns="0" rIns="0" bIns="0" rtlCol="0" anchor="t"/>
          <a:lstStyle/>
          <a:p>
            <a:pPr indent="0" marL="0">
              <a:buNone/>
            </a:pPr>
            <a:r>
              <a:rPr lang="en-US" sz="1700" b="1" dirty="0">
                <a:solidFill>
                  <a:srgbClr val="1F7A8C"/>
                </a:solidFill>
                <a:latin typeface="Cambria" pitchFamily="34" charset="0"/>
                <a:ea typeface="Cambria" pitchFamily="34" charset="-122"/>
                <a:cs typeface="Cambria" pitchFamily="34" charset="-120"/>
              </a:rPr>
              <a:t>Key insight</a:t>
            </a:r>
            <a:endParaRPr lang="en-US" sz="1700" dirty="0"/>
          </a:p>
        </p:txBody>
      </p:sp>
      <p:sp>
        <p:nvSpPr>
          <p:cNvPr id="8" name="Text 5"/>
          <p:cNvSpPr txBox="1"/>
          <p:nvPr/>
        </p:nvSpPr>
        <p:spPr>
          <a:xfrm>
            <a:off x="8412480" y="2194560"/>
            <a:ext cx="2953512" cy="3840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D3A"/>
                </a:solidFill>
                <a:latin typeface="Calibri" pitchFamily="34" charset="0"/>
                <a:ea typeface="Calibri" pitchFamily="34" charset="-122"/>
                <a:cs typeface="Calibri" pitchFamily="34" charset="-120"/>
              </a:rPr>
              <a:t>Overcast is the most common condition (~21K days)</a:t>
            </a:r>
            <a:endParaRPr lang="en-US" sz="1500" dirty="0"/>
          </a:p>
          <a:p>
            <a:pPr marL="342900" indent="-342900">
              <a:spcAft>
                <a:spcPts val="800"/>
              </a:spcAft>
              <a:buSzPct val="100000"/>
              <a:buChar char="•"/>
            </a:pPr>
            <a:r>
              <a:rPr lang="en-US" sz="1500" dirty="0">
                <a:solidFill>
                  <a:srgbClr val="1F2D3A"/>
                </a:solidFill>
                <a:latin typeface="Calibri" pitchFamily="34" charset="0"/>
                <a:ea typeface="Calibri" pitchFamily="34" charset="-122"/>
                <a:cs typeface="Calibri" pitchFamily="34" charset="-120"/>
              </a:rPr>
              <a:t>Clear sky (~15K) and light drizzle (~12K) follow</a:t>
            </a:r>
            <a:endParaRPr lang="en-US" sz="1500" dirty="0"/>
          </a:p>
          <a:p>
            <a:pPr marL="342900" indent="-342900">
              <a:spcAft>
                <a:spcPts val="800"/>
              </a:spcAft>
              <a:buSzPct val="100000"/>
              <a:buChar char="•"/>
            </a:pPr>
            <a:r>
              <a:rPr lang="en-US" sz="1500" dirty="0">
                <a:solidFill>
                  <a:srgbClr val="1F2D3A"/>
                </a:solidFill>
                <a:latin typeface="Calibri" pitchFamily="34" charset="0"/>
                <a:ea typeface="Calibri" pitchFamily="34" charset="-122"/>
                <a:cs typeface="Calibri" pitchFamily="34" charset="-120"/>
              </a:rPr>
              <a:t>Heavy rain is the rarest, at roughly 1K days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EXPLORATORY ANALYSIS</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Seasonal patterns</a:t>
            </a:r>
            <a:endParaRPr lang="en-US" sz="3200" dirty="0"/>
          </a:p>
        </p:txBody>
      </p:sp>
      <p:sp>
        <p:nvSpPr>
          <p:cNvPr id="4" name="Shape 2"/>
          <p:cNvSpPr/>
          <p:nvPr/>
        </p:nvSpPr>
        <p:spPr>
          <a:xfrm>
            <a:off x="548640" y="1463040"/>
            <a:ext cx="5449824" cy="3840480"/>
          </a:xfrm>
          <a:prstGeom prst="roundRect">
            <a:avLst>
              <a:gd name="adj" fmla="val 1905"/>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pic>
        <p:nvPicPr>
          <p:cNvPr id="5" name="Image 0" descr="img/b9_1.png">    </p:cNvPr>
          <p:cNvPicPr>
            <a:picLocks noChangeAspect="1"/>
          </p:cNvPicPr>
          <p:nvPr/>
        </p:nvPicPr>
        <p:blipFill>
          <a:blip r:embed="rId1"/>
          <a:stretch>
            <a:fillRect/>
          </a:stretch>
        </p:blipFill>
        <p:spPr>
          <a:xfrm>
            <a:off x="884225" y="1600200"/>
            <a:ext cx="4778654" cy="3566160"/>
          </a:xfrm>
          <a:prstGeom prst="rect">
            <a:avLst/>
          </a:prstGeom>
        </p:spPr>
      </p:pic>
      <p:sp>
        <p:nvSpPr>
          <p:cNvPr id="6" name="Shape 3"/>
          <p:cNvSpPr/>
          <p:nvPr/>
        </p:nvSpPr>
        <p:spPr>
          <a:xfrm>
            <a:off x="6190488" y="1463040"/>
            <a:ext cx="5449824" cy="3840480"/>
          </a:xfrm>
          <a:prstGeom prst="roundRect">
            <a:avLst>
              <a:gd name="adj" fmla="val 1905"/>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pic>
        <p:nvPicPr>
          <p:cNvPr id="7" name="Image 1" descr="img/b9_2.png">    </p:cNvPr>
          <p:cNvPicPr>
            <a:picLocks noChangeAspect="1"/>
          </p:cNvPicPr>
          <p:nvPr/>
        </p:nvPicPr>
        <p:blipFill>
          <a:blip r:embed="rId2"/>
          <a:stretch>
            <a:fillRect/>
          </a:stretch>
        </p:blipFill>
        <p:spPr>
          <a:xfrm>
            <a:off x="6526073" y="1600200"/>
            <a:ext cx="4778654" cy="3566160"/>
          </a:xfrm>
          <a:prstGeom prst="rect">
            <a:avLst/>
          </a:prstGeom>
        </p:spPr>
      </p:pic>
      <p:sp>
        <p:nvSpPr>
          <p:cNvPr id="8" name="Shape 4"/>
          <p:cNvSpPr/>
          <p:nvPr/>
        </p:nvSpPr>
        <p:spPr>
          <a:xfrm>
            <a:off x="548640" y="5532120"/>
            <a:ext cx="11091672" cy="685800"/>
          </a:xfrm>
          <a:prstGeom prst="roundRect">
            <a:avLst>
              <a:gd name="adj" fmla="val 10667"/>
            </a:avLst>
          </a:prstGeom>
          <a:solidFill>
            <a:srgbClr val="E4EFF2"/>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9" name="Text 5"/>
          <p:cNvSpPr txBox="1"/>
          <p:nvPr/>
        </p:nvSpPr>
        <p:spPr>
          <a:xfrm>
            <a:off x="822960" y="5532120"/>
            <a:ext cx="10515600" cy="685800"/>
          </a:xfrm>
          <a:prstGeom prst="rect">
            <a:avLst/>
          </a:prstGeom>
          <a:noFill/>
          <a:ln/>
        </p:spPr>
        <p:txBody>
          <a:bodyPr wrap="square" lIns="0" tIns="0" rIns="0" bIns="0" rtlCol="0" anchor="ctr"/>
          <a:lstStyle/>
          <a:p>
            <a:pPr indent="0" marL="0">
              <a:buNone/>
            </a:pPr>
            <a:r>
              <a:rPr lang="en-US" sz="1500" dirty="0">
                <a:solidFill>
                  <a:srgbClr val="1F2D3A"/>
                </a:solidFill>
                <a:latin typeface="Calibri" pitchFamily="34" charset="0"/>
                <a:ea typeface="Calibri" pitchFamily="34" charset="-122"/>
                <a:cs typeface="Calibri" pitchFamily="34" charset="-120"/>
              </a:rPr>
              <a:t>Summer is the hottest season (median ≈35°C); the Monsoon brings the highest median rain and the heaviest extremes.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EXPLORATORY ANALYSIS</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City comparison: temperature and rainfall</a:t>
            </a:r>
            <a:endParaRPr lang="en-US" sz="3200" dirty="0"/>
          </a:p>
        </p:txBody>
      </p:sp>
      <p:sp>
        <p:nvSpPr>
          <p:cNvPr id="4" name="Shape 2"/>
          <p:cNvSpPr/>
          <p:nvPr/>
        </p:nvSpPr>
        <p:spPr>
          <a:xfrm>
            <a:off x="548640" y="1463040"/>
            <a:ext cx="5449824" cy="3840480"/>
          </a:xfrm>
          <a:prstGeom prst="roundRect">
            <a:avLst>
              <a:gd name="adj" fmla="val 1905"/>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pic>
        <p:nvPicPr>
          <p:cNvPr id="5" name="Image 0" descr="img/b10_1.png">    </p:cNvPr>
          <p:cNvPicPr>
            <a:picLocks noChangeAspect="1"/>
          </p:cNvPicPr>
          <p:nvPr/>
        </p:nvPicPr>
        <p:blipFill>
          <a:blip r:embed="rId1"/>
          <a:stretch>
            <a:fillRect/>
          </a:stretch>
        </p:blipFill>
        <p:spPr>
          <a:xfrm>
            <a:off x="685800" y="2102215"/>
            <a:ext cx="5175504" cy="2562131"/>
          </a:xfrm>
          <a:prstGeom prst="rect">
            <a:avLst/>
          </a:prstGeom>
        </p:spPr>
      </p:pic>
      <p:sp>
        <p:nvSpPr>
          <p:cNvPr id="6" name="Shape 3"/>
          <p:cNvSpPr/>
          <p:nvPr/>
        </p:nvSpPr>
        <p:spPr>
          <a:xfrm>
            <a:off x="6190488" y="1463040"/>
            <a:ext cx="5449824" cy="3840480"/>
          </a:xfrm>
          <a:prstGeom prst="roundRect">
            <a:avLst>
              <a:gd name="adj" fmla="val 1905"/>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pic>
        <p:nvPicPr>
          <p:cNvPr id="7" name="Image 1" descr="img/b10_2.png">    </p:cNvPr>
          <p:cNvPicPr>
            <a:picLocks noChangeAspect="1"/>
          </p:cNvPicPr>
          <p:nvPr/>
        </p:nvPicPr>
        <p:blipFill>
          <a:blip r:embed="rId2"/>
          <a:stretch>
            <a:fillRect/>
          </a:stretch>
        </p:blipFill>
        <p:spPr>
          <a:xfrm>
            <a:off x="6327648" y="2102215"/>
            <a:ext cx="5175504" cy="2562131"/>
          </a:xfrm>
          <a:prstGeom prst="rect">
            <a:avLst/>
          </a:prstGeom>
        </p:spPr>
      </p:pic>
      <p:sp>
        <p:nvSpPr>
          <p:cNvPr id="8" name="Shape 4"/>
          <p:cNvSpPr/>
          <p:nvPr/>
        </p:nvSpPr>
        <p:spPr>
          <a:xfrm>
            <a:off x="548640" y="5532120"/>
            <a:ext cx="11091672" cy="685800"/>
          </a:xfrm>
          <a:prstGeom prst="roundRect">
            <a:avLst>
              <a:gd name="adj" fmla="val 10667"/>
            </a:avLst>
          </a:prstGeom>
          <a:solidFill>
            <a:srgbClr val="E4EFF2"/>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9" name="Text 5"/>
          <p:cNvSpPr txBox="1"/>
          <p:nvPr/>
        </p:nvSpPr>
        <p:spPr>
          <a:xfrm>
            <a:off x="822960" y="5532120"/>
            <a:ext cx="10515600" cy="685800"/>
          </a:xfrm>
          <a:prstGeom prst="rect">
            <a:avLst/>
          </a:prstGeom>
          <a:noFill/>
          <a:ln/>
        </p:spPr>
        <p:txBody>
          <a:bodyPr wrap="square" lIns="0" tIns="0" rIns="0" bIns="0" rtlCol="0" anchor="ctr"/>
          <a:lstStyle/>
          <a:p>
            <a:pPr indent="0" marL="0">
              <a:buNone/>
            </a:pPr>
            <a:r>
              <a:rPr lang="en-US" sz="1500" dirty="0">
                <a:solidFill>
                  <a:srgbClr val="1F2D3A"/>
                </a:solidFill>
                <a:latin typeface="Calibri" pitchFamily="34" charset="0"/>
                <a:ea typeface="Calibri" pitchFamily="34" charset="-122"/>
                <a:cs typeface="Calibri" pitchFamily="34" charset="-120"/>
              </a:rPr>
              <a:t>Hottest city (Ahmedabad, ~33°C) and wettest city (Mumbai, ~5.7 mm/day) differ, so heat alone does not predict rain.</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EXPLORATORY ANALYSIS</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Temperature spread by city</a:t>
            </a:r>
            <a:endParaRPr lang="en-US" sz="3200" dirty="0"/>
          </a:p>
        </p:txBody>
      </p:sp>
      <p:sp>
        <p:nvSpPr>
          <p:cNvPr id="4" name="Shape 2"/>
          <p:cNvSpPr/>
          <p:nvPr/>
        </p:nvSpPr>
        <p:spPr>
          <a:xfrm>
            <a:off x="548640" y="1463040"/>
            <a:ext cx="7315200" cy="4754880"/>
          </a:xfrm>
          <a:prstGeom prst="roundRect">
            <a:avLst>
              <a:gd name="adj" fmla="val 1538"/>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pic>
        <p:nvPicPr>
          <p:cNvPr id="5" name="Image 0" descr="img/b11_1.png">    </p:cNvPr>
          <p:cNvPicPr>
            <a:picLocks noChangeAspect="1"/>
          </p:cNvPicPr>
          <p:nvPr/>
        </p:nvPicPr>
        <p:blipFill>
          <a:blip r:embed="rId1"/>
          <a:stretch>
            <a:fillRect/>
          </a:stretch>
        </p:blipFill>
        <p:spPr>
          <a:xfrm>
            <a:off x="1265530" y="1645920"/>
            <a:ext cx="5881421" cy="4389120"/>
          </a:xfrm>
          <a:prstGeom prst="rect">
            <a:avLst/>
          </a:prstGeom>
        </p:spPr>
      </p:pic>
      <p:sp>
        <p:nvSpPr>
          <p:cNvPr id="6" name="Shape 3"/>
          <p:cNvSpPr/>
          <p:nvPr/>
        </p:nvSpPr>
        <p:spPr>
          <a:xfrm>
            <a:off x="8138160" y="1463040"/>
            <a:ext cx="3502152" cy="4754880"/>
          </a:xfrm>
          <a:prstGeom prst="roundRect">
            <a:avLst>
              <a:gd name="adj" fmla="val 2089"/>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8412480" y="1691640"/>
            <a:ext cx="2953512" cy="365760"/>
          </a:xfrm>
          <a:prstGeom prst="rect">
            <a:avLst/>
          </a:prstGeom>
          <a:noFill/>
          <a:ln/>
        </p:spPr>
        <p:txBody>
          <a:bodyPr wrap="square" lIns="0" tIns="0" rIns="0" bIns="0" rtlCol="0" anchor="t"/>
          <a:lstStyle/>
          <a:p>
            <a:pPr indent="0" marL="0">
              <a:buNone/>
            </a:pPr>
            <a:r>
              <a:rPr lang="en-US" sz="1700" b="1" dirty="0">
                <a:solidFill>
                  <a:srgbClr val="1F7A8C"/>
                </a:solidFill>
                <a:latin typeface="Cambria" pitchFamily="34" charset="0"/>
                <a:ea typeface="Cambria" pitchFamily="34" charset="-122"/>
                <a:cs typeface="Cambria" pitchFamily="34" charset="-120"/>
              </a:rPr>
              <a:t>Key insight</a:t>
            </a:r>
            <a:endParaRPr lang="en-US" sz="1700" dirty="0"/>
          </a:p>
        </p:txBody>
      </p:sp>
      <p:sp>
        <p:nvSpPr>
          <p:cNvPr id="8" name="Text 5"/>
          <p:cNvSpPr txBox="1"/>
          <p:nvPr/>
        </p:nvSpPr>
        <p:spPr>
          <a:xfrm>
            <a:off x="8412480" y="2194560"/>
            <a:ext cx="2953512" cy="3840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D3A"/>
                </a:solidFill>
                <a:latin typeface="Calibri" pitchFamily="34" charset="0"/>
                <a:ea typeface="Calibri" pitchFamily="34" charset="-122"/>
                <a:cs typeface="Calibri" pitchFamily="34" charset="-120"/>
              </a:rPr>
              <a:t>Delhi, Lucknow and Jaipur swing widest (~12–46°C)</a:t>
            </a:r>
            <a:endParaRPr lang="en-US" sz="1500" dirty="0"/>
          </a:p>
          <a:p>
            <a:pPr marL="342900" indent="-342900">
              <a:spcAft>
                <a:spcPts val="800"/>
              </a:spcAft>
              <a:buSzPct val="100000"/>
              <a:buChar char="•"/>
            </a:pPr>
            <a:r>
              <a:rPr lang="en-US" sz="1500" dirty="0">
                <a:solidFill>
                  <a:srgbClr val="1F2D3A"/>
                </a:solidFill>
                <a:latin typeface="Calibri" pitchFamily="34" charset="0"/>
                <a:ea typeface="Calibri" pitchFamily="34" charset="-122"/>
                <a:cs typeface="Calibri" pitchFamily="34" charset="-120"/>
              </a:rPr>
              <a:t>Chennai is steadiest, with a high floor near 23°C</a:t>
            </a:r>
            <a:endParaRPr lang="en-US" sz="1500" dirty="0"/>
          </a:p>
          <a:p>
            <a:pPr marL="342900" indent="-342900">
              <a:spcAft>
                <a:spcPts val="800"/>
              </a:spcAft>
              <a:buSzPct val="100000"/>
              <a:buChar char="•"/>
            </a:pPr>
            <a:r>
              <a:rPr lang="en-US" sz="1500" dirty="0">
                <a:solidFill>
                  <a:srgbClr val="1F2D3A"/>
                </a:solidFill>
                <a:latin typeface="Calibri" pitchFamily="34" charset="0"/>
                <a:ea typeface="Calibri" pitchFamily="34" charset="-122"/>
                <a:cs typeface="Calibri" pitchFamily="34" charset="-120"/>
              </a:rPr>
              <a:t>Bangalore is coolest, with a median near 27.5°C</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EXPLORATORY ANALYSIS</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Relationships between variables</a:t>
            </a:r>
            <a:endParaRPr lang="en-US" sz="3200" dirty="0"/>
          </a:p>
        </p:txBody>
      </p:sp>
      <p:sp>
        <p:nvSpPr>
          <p:cNvPr id="4" name="Shape 2"/>
          <p:cNvSpPr/>
          <p:nvPr/>
        </p:nvSpPr>
        <p:spPr>
          <a:xfrm>
            <a:off x="548640" y="1463040"/>
            <a:ext cx="3502152" cy="4754880"/>
          </a:xfrm>
          <a:prstGeom prst="roundRect">
            <a:avLst>
              <a:gd name="adj" fmla="val 2089"/>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pic>
        <p:nvPicPr>
          <p:cNvPr id="5" name="Image 0" descr="img/b12_1.png">    </p:cNvPr>
          <p:cNvPicPr>
            <a:picLocks noChangeAspect="1"/>
          </p:cNvPicPr>
          <p:nvPr/>
        </p:nvPicPr>
        <p:blipFill>
          <a:blip r:embed="rId1"/>
          <a:stretch>
            <a:fillRect/>
          </a:stretch>
        </p:blipFill>
        <p:spPr>
          <a:xfrm>
            <a:off x="685800" y="1765821"/>
            <a:ext cx="3227832" cy="2137637"/>
          </a:xfrm>
          <a:prstGeom prst="rect">
            <a:avLst/>
          </a:prstGeom>
        </p:spPr>
      </p:pic>
      <p:sp>
        <p:nvSpPr>
          <p:cNvPr id="6" name="Text 3"/>
          <p:cNvSpPr txBox="1"/>
          <p:nvPr/>
        </p:nvSpPr>
        <p:spPr>
          <a:xfrm>
            <a:off x="822960" y="4297680"/>
            <a:ext cx="2971800" cy="1828800"/>
          </a:xfrm>
          <a:prstGeom prst="rect">
            <a:avLst/>
          </a:prstGeom>
          <a:noFill/>
          <a:ln/>
        </p:spPr>
        <p:txBody>
          <a:bodyPr wrap="square" lIns="0" tIns="0" rIns="0" bIns="0" rtlCol="0" anchor="t"/>
          <a:lstStyle/>
          <a:p>
            <a:pPr indent="0" marL="0">
              <a:buNone/>
            </a:pPr>
            <a:r>
              <a:rPr lang="en-US" sz="1600" dirty="0">
                <a:solidFill>
                  <a:srgbClr val="1F2D3A"/>
                </a:solidFill>
                <a:latin typeface="Calibri" pitchFamily="34" charset="0"/>
                <a:ea typeface="Calibri" pitchFamily="34" charset="-122"/>
                <a:cs typeface="Calibri" pitchFamily="34" charset="-120"/>
              </a:rPr>
              <a:t>Rain peaks at 24–32°C and nearly vanishes above ~38°C.</a:t>
            </a:r>
            <a:endParaRPr lang="en-US" sz="1600" dirty="0"/>
          </a:p>
        </p:txBody>
      </p:sp>
      <p:sp>
        <p:nvSpPr>
          <p:cNvPr id="7" name="Shape 4"/>
          <p:cNvSpPr/>
          <p:nvPr/>
        </p:nvSpPr>
        <p:spPr>
          <a:xfrm>
            <a:off x="4343400" y="1463040"/>
            <a:ext cx="3502152" cy="4754880"/>
          </a:xfrm>
          <a:prstGeom prst="roundRect">
            <a:avLst>
              <a:gd name="adj" fmla="val 2089"/>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pic>
        <p:nvPicPr>
          <p:cNvPr id="8" name="Image 1" descr="img/b12_2.png">    </p:cNvPr>
          <p:cNvPicPr>
            <a:picLocks noChangeAspect="1"/>
          </p:cNvPicPr>
          <p:nvPr/>
        </p:nvPicPr>
        <p:blipFill>
          <a:blip r:embed="rId2"/>
          <a:stretch>
            <a:fillRect/>
          </a:stretch>
        </p:blipFill>
        <p:spPr>
          <a:xfrm>
            <a:off x="4480560" y="1765821"/>
            <a:ext cx="3227832" cy="2137637"/>
          </a:xfrm>
          <a:prstGeom prst="rect">
            <a:avLst/>
          </a:prstGeom>
        </p:spPr>
      </p:pic>
      <p:sp>
        <p:nvSpPr>
          <p:cNvPr id="9" name="Text 5"/>
          <p:cNvSpPr txBox="1"/>
          <p:nvPr/>
        </p:nvSpPr>
        <p:spPr>
          <a:xfrm>
            <a:off x="4617720" y="4297680"/>
            <a:ext cx="2971800" cy="1828800"/>
          </a:xfrm>
          <a:prstGeom prst="rect">
            <a:avLst/>
          </a:prstGeom>
          <a:noFill/>
          <a:ln/>
        </p:spPr>
        <p:txBody>
          <a:bodyPr wrap="square" lIns="0" tIns="0" rIns="0" bIns="0" rtlCol="0" anchor="t"/>
          <a:lstStyle/>
          <a:p>
            <a:pPr indent="0" marL="0">
              <a:buNone/>
            </a:pPr>
            <a:r>
              <a:rPr lang="en-US" sz="1600" dirty="0">
                <a:solidFill>
                  <a:srgbClr val="1F2D3A"/>
                </a:solidFill>
                <a:latin typeface="Calibri" pitchFamily="34" charset="0"/>
                <a:ea typeface="Calibri" pitchFamily="34" charset="-122"/>
                <a:cs typeface="Calibri" pitchFamily="34" charset="-120"/>
              </a:rPr>
              <a:t>Gusts rise almost linearly with wind speed (r ≈ 0.91).</a:t>
            </a:r>
            <a:endParaRPr lang="en-US" sz="1600" dirty="0"/>
          </a:p>
        </p:txBody>
      </p:sp>
      <p:sp>
        <p:nvSpPr>
          <p:cNvPr id="10" name="Shape 6"/>
          <p:cNvSpPr/>
          <p:nvPr/>
        </p:nvSpPr>
        <p:spPr>
          <a:xfrm>
            <a:off x="8138160" y="1463040"/>
            <a:ext cx="3502152" cy="4754880"/>
          </a:xfrm>
          <a:prstGeom prst="roundRect">
            <a:avLst>
              <a:gd name="adj" fmla="val 2089"/>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pic>
        <p:nvPicPr>
          <p:cNvPr id="11" name="Image 2" descr="img/b12_3.png">    </p:cNvPr>
          <p:cNvPicPr>
            <a:picLocks noChangeAspect="1"/>
          </p:cNvPicPr>
          <p:nvPr/>
        </p:nvPicPr>
        <p:blipFill>
          <a:blip r:embed="rId3"/>
          <a:stretch>
            <a:fillRect/>
          </a:stretch>
        </p:blipFill>
        <p:spPr>
          <a:xfrm>
            <a:off x="8275320" y="1765821"/>
            <a:ext cx="3227832" cy="2137637"/>
          </a:xfrm>
          <a:prstGeom prst="rect">
            <a:avLst/>
          </a:prstGeom>
        </p:spPr>
      </p:pic>
      <p:sp>
        <p:nvSpPr>
          <p:cNvPr id="12" name="Text 7"/>
          <p:cNvSpPr txBox="1"/>
          <p:nvPr/>
        </p:nvSpPr>
        <p:spPr>
          <a:xfrm>
            <a:off x="8412480" y="4297680"/>
            <a:ext cx="2971800" cy="1828800"/>
          </a:xfrm>
          <a:prstGeom prst="rect">
            <a:avLst/>
          </a:prstGeom>
          <a:noFill/>
          <a:ln/>
        </p:spPr>
        <p:txBody>
          <a:bodyPr wrap="square" lIns="0" tIns="0" rIns="0" bIns="0" rtlCol="0" anchor="t"/>
          <a:lstStyle/>
          <a:p>
            <a:pPr indent="0" marL="0">
              <a:buNone/>
            </a:pPr>
            <a:r>
              <a:rPr lang="en-US" sz="1600" dirty="0">
                <a:solidFill>
                  <a:srgbClr val="1F2D3A"/>
                </a:solidFill>
                <a:latin typeface="Calibri" pitchFamily="34" charset="0"/>
                <a:ea typeface="Calibri" pitchFamily="34" charset="-122"/>
                <a:cs typeface="Calibri" pitchFamily="34" charset="-120"/>
              </a:rPr>
              <a:t>Apparent temperature is higher than actual in the mid range, lower at extreme heat.</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EXPLORATORY ANALYSIS</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Correlation matrix</a:t>
            </a:r>
            <a:endParaRPr lang="en-US" sz="3200" dirty="0"/>
          </a:p>
        </p:txBody>
      </p:sp>
      <p:sp>
        <p:nvSpPr>
          <p:cNvPr id="4" name="Shape 2"/>
          <p:cNvSpPr/>
          <p:nvPr/>
        </p:nvSpPr>
        <p:spPr>
          <a:xfrm>
            <a:off x="548640" y="1463040"/>
            <a:ext cx="7315200" cy="4754880"/>
          </a:xfrm>
          <a:prstGeom prst="roundRect">
            <a:avLst>
              <a:gd name="adj" fmla="val 1538"/>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pic>
        <p:nvPicPr>
          <p:cNvPr id="5" name="Image 0" descr="img/b13_1.png">    </p:cNvPr>
          <p:cNvPicPr>
            <a:picLocks noChangeAspect="1"/>
          </p:cNvPicPr>
          <p:nvPr/>
        </p:nvPicPr>
        <p:blipFill>
          <a:blip r:embed="rId1"/>
          <a:stretch>
            <a:fillRect/>
          </a:stretch>
        </p:blipFill>
        <p:spPr>
          <a:xfrm>
            <a:off x="1594714" y="1645920"/>
            <a:ext cx="5223053" cy="4389120"/>
          </a:xfrm>
          <a:prstGeom prst="rect">
            <a:avLst/>
          </a:prstGeom>
        </p:spPr>
      </p:pic>
      <p:sp>
        <p:nvSpPr>
          <p:cNvPr id="6" name="Shape 3"/>
          <p:cNvSpPr/>
          <p:nvPr/>
        </p:nvSpPr>
        <p:spPr>
          <a:xfrm>
            <a:off x="8138160" y="1463040"/>
            <a:ext cx="3502152" cy="4754880"/>
          </a:xfrm>
          <a:prstGeom prst="roundRect">
            <a:avLst>
              <a:gd name="adj" fmla="val 2089"/>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8412480" y="1691640"/>
            <a:ext cx="2953512" cy="365760"/>
          </a:xfrm>
          <a:prstGeom prst="rect">
            <a:avLst/>
          </a:prstGeom>
          <a:noFill/>
          <a:ln/>
        </p:spPr>
        <p:txBody>
          <a:bodyPr wrap="square" lIns="0" tIns="0" rIns="0" bIns="0" rtlCol="0" anchor="t"/>
          <a:lstStyle/>
          <a:p>
            <a:pPr indent="0" marL="0">
              <a:buNone/>
            </a:pPr>
            <a:r>
              <a:rPr lang="en-US" sz="1700" b="1" dirty="0">
                <a:solidFill>
                  <a:srgbClr val="1F7A8C"/>
                </a:solidFill>
                <a:latin typeface="Cambria" pitchFamily="34" charset="0"/>
                <a:ea typeface="Cambria" pitchFamily="34" charset="-122"/>
                <a:cs typeface="Cambria" pitchFamily="34" charset="-120"/>
              </a:rPr>
              <a:t>What stands out</a:t>
            </a:r>
            <a:endParaRPr lang="en-US" sz="1700" dirty="0"/>
          </a:p>
        </p:txBody>
      </p:sp>
      <p:sp>
        <p:nvSpPr>
          <p:cNvPr id="8" name="Text 5"/>
          <p:cNvSpPr txBox="1"/>
          <p:nvPr/>
        </p:nvSpPr>
        <p:spPr>
          <a:xfrm>
            <a:off x="8412480" y="2194560"/>
            <a:ext cx="2953512" cy="3840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D3A"/>
                </a:solidFill>
                <a:latin typeface="Calibri" pitchFamily="34" charset="0"/>
                <a:ea typeface="Calibri" pitchFamily="34" charset="-122"/>
                <a:cs typeface="Calibri" pitchFamily="34" charset="-120"/>
              </a:rPr>
              <a:t>Temperature and apparent temperature: r ≈ 0.90 (max), 0.97 (min)</a:t>
            </a:r>
            <a:endParaRPr lang="en-US" sz="1500" dirty="0"/>
          </a:p>
          <a:p>
            <a:pPr marL="342900" indent="-342900">
              <a:spcAft>
                <a:spcPts val="800"/>
              </a:spcAft>
              <a:buSzPct val="100000"/>
              <a:buChar char="•"/>
            </a:pPr>
            <a:r>
              <a:rPr lang="en-US" sz="1500" dirty="0">
                <a:solidFill>
                  <a:srgbClr val="1F2D3A"/>
                </a:solidFill>
                <a:latin typeface="Calibri" pitchFamily="34" charset="0"/>
                <a:ea typeface="Calibri" pitchFamily="34" charset="-122"/>
                <a:cs typeface="Calibri" pitchFamily="34" charset="-120"/>
              </a:rPr>
              <a:t>Wind speed and gusts: r ≈ 0.91</a:t>
            </a:r>
            <a:endParaRPr lang="en-US" sz="1500" dirty="0"/>
          </a:p>
          <a:p>
            <a:pPr marL="342900" indent="-342900">
              <a:spcAft>
                <a:spcPts val="800"/>
              </a:spcAft>
              <a:buSzPct val="100000"/>
              <a:buChar char="•"/>
            </a:pPr>
            <a:r>
              <a:rPr lang="en-US" sz="1500" dirty="0">
                <a:solidFill>
                  <a:srgbClr val="1F2D3A"/>
                </a:solidFill>
                <a:latin typeface="Calibri" pitchFamily="34" charset="0"/>
                <a:ea typeface="Calibri" pitchFamily="34" charset="-122"/>
                <a:cs typeface="Calibri" pitchFamily="34" charset="-120"/>
              </a:rPr>
              <a:t>Rain vs max temperature: weak negative (−0.17)</a:t>
            </a:r>
            <a:endParaRPr lang="en-US" sz="1500" dirty="0"/>
          </a:p>
          <a:p>
            <a:pPr marL="342900" indent="-342900">
              <a:spcAft>
                <a:spcPts val="800"/>
              </a:spcAft>
              <a:buSzPct val="100000"/>
              <a:buChar char="•"/>
            </a:pPr>
            <a:r>
              <a:rPr lang="en-US" sz="1500" dirty="0">
                <a:solidFill>
                  <a:srgbClr val="1F2D3A"/>
                </a:solidFill>
                <a:latin typeface="Calibri" pitchFamily="34" charset="0"/>
                <a:ea typeface="Calibri" pitchFamily="34" charset="-122"/>
                <a:cs typeface="Calibri" pitchFamily="34" charset="-120"/>
              </a:rPr>
              <a:t>Wind direction is nearly uncorrelated with everything</a:t>
            </a:r>
            <a:endParaRPr lang="en-US" sz="1500" dirty="0"/>
          </a:p>
          <a:p>
            <a:pPr marL="342900" indent="-342900">
              <a:spcAft>
                <a:spcPts val="800"/>
              </a:spcAft>
              <a:buSzPct val="100000"/>
              <a:buChar char="•"/>
            </a:pPr>
            <a:r>
              <a:rPr lang="en-US" sz="1500" dirty="0">
                <a:solidFill>
                  <a:srgbClr val="1F2D3A"/>
                </a:solidFill>
                <a:latin typeface="Calibri" pitchFamily="34" charset="0"/>
                <a:ea typeface="Calibri" pitchFamily="34" charset="-122"/>
                <a:cs typeface="Calibri" pitchFamily="34" charset="-120"/>
              </a:rPr>
              <a:t>Redundant pairs are candidates to combine or drop in modeling</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EXPLORATORY ANALYSIS</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Yearly trends, 2000–2024</a:t>
            </a:r>
            <a:endParaRPr lang="en-US" sz="3200" dirty="0"/>
          </a:p>
        </p:txBody>
      </p:sp>
      <p:sp>
        <p:nvSpPr>
          <p:cNvPr id="4" name="Shape 2"/>
          <p:cNvSpPr/>
          <p:nvPr/>
        </p:nvSpPr>
        <p:spPr>
          <a:xfrm>
            <a:off x="548640" y="1463040"/>
            <a:ext cx="5449824" cy="3840480"/>
          </a:xfrm>
          <a:prstGeom prst="roundRect">
            <a:avLst>
              <a:gd name="adj" fmla="val 1905"/>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pic>
        <p:nvPicPr>
          <p:cNvPr id="5" name="Image 0" descr="img/b14_1.png">    </p:cNvPr>
          <p:cNvPicPr>
            <a:picLocks noChangeAspect="1"/>
          </p:cNvPicPr>
          <p:nvPr/>
        </p:nvPicPr>
        <p:blipFill>
          <a:blip r:embed="rId1"/>
          <a:stretch>
            <a:fillRect/>
          </a:stretch>
        </p:blipFill>
        <p:spPr>
          <a:xfrm>
            <a:off x="685800" y="2286775"/>
            <a:ext cx="5175504" cy="2193010"/>
          </a:xfrm>
          <a:prstGeom prst="rect">
            <a:avLst/>
          </a:prstGeom>
        </p:spPr>
      </p:pic>
      <p:sp>
        <p:nvSpPr>
          <p:cNvPr id="6" name="Shape 3"/>
          <p:cNvSpPr/>
          <p:nvPr/>
        </p:nvSpPr>
        <p:spPr>
          <a:xfrm>
            <a:off x="6190488" y="1463040"/>
            <a:ext cx="5449824" cy="3840480"/>
          </a:xfrm>
          <a:prstGeom prst="roundRect">
            <a:avLst>
              <a:gd name="adj" fmla="val 1905"/>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pic>
        <p:nvPicPr>
          <p:cNvPr id="7" name="Image 1" descr="img/b14_2.png">    </p:cNvPr>
          <p:cNvPicPr>
            <a:picLocks noChangeAspect="1"/>
          </p:cNvPicPr>
          <p:nvPr/>
        </p:nvPicPr>
        <p:blipFill>
          <a:blip r:embed="rId2"/>
          <a:stretch>
            <a:fillRect/>
          </a:stretch>
        </p:blipFill>
        <p:spPr>
          <a:xfrm>
            <a:off x="6327648" y="2286775"/>
            <a:ext cx="5175504" cy="2193010"/>
          </a:xfrm>
          <a:prstGeom prst="rect">
            <a:avLst/>
          </a:prstGeom>
        </p:spPr>
      </p:pic>
      <p:sp>
        <p:nvSpPr>
          <p:cNvPr id="8" name="Shape 4"/>
          <p:cNvSpPr/>
          <p:nvPr/>
        </p:nvSpPr>
        <p:spPr>
          <a:xfrm>
            <a:off x="548640" y="5532120"/>
            <a:ext cx="11091672" cy="685800"/>
          </a:xfrm>
          <a:prstGeom prst="roundRect">
            <a:avLst>
              <a:gd name="adj" fmla="val 10667"/>
            </a:avLst>
          </a:prstGeom>
          <a:solidFill>
            <a:srgbClr val="E4EFF2"/>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9" name="Text 5"/>
          <p:cNvSpPr txBox="1"/>
          <p:nvPr/>
        </p:nvSpPr>
        <p:spPr>
          <a:xfrm>
            <a:off x="822960" y="5532120"/>
            <a:ext cx="10515600" cy="685800"/>
          </a:xfrm>
          <a:prstGeom prst="rect">
            <a:avLst/>
          </a:prstGeom>
          <a:noFill/>
          <a:ln/>
        </p:spPr>
        <p:txBody>
          <a:bodyPr wrap="square" lIns="0" tIns="0" rIns="0" bIns="0" rtlCol="0" anchor="ctr"/>
          <a:lstStyle/>
          <a:p>
            <a:pPr indent="0" marL="0">
              <a:buNone/>
            </a:pPr>
            <a:r>
              <a:rPr lang="en-US" sz="1500" dirty="0">
                <a:solidFill>
                  <a:srgbClr val="1F2D3A"/>
                </a:solidFill>
                <a:latin typeface="Calibri" pitchFamily="34" charset="0"/>
                <a:ea typeface="Calibri" pitchFamily="34" charset="-122"/>
                <a:cs typeface="Calibri" pitchFamily="34" charset="-120"/>
              </a:rPr>
              <a:t>Average max temperature stays within ~30.2–31.6°C, while average rainfall drifts up from ~2.6 mm to ~3.9 mm; both are noisy year to year.</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EXPLORATORY ANALYSIS</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Monthly seasonality</a:t>
            </a:r>
            <a:endParaRPr lang="en-US" sz="3200" dirty="0"/>
          </a:p>
        </p:txBody>
      </p:sp>
      <p:sp>
        <p:nvSpPr>
          <p:cNvPr id="4" name="Shape 2"/>
          <p:cNvSpPr/>
          <p:nvPr/>
        </p:nvSpPr>
        <p:spPr>
          <a:xfrm>
            <a:off x="548640" y="1463040"/>
            <a:ext cx="5449824" cy="3840480"/>
          </a:xfrm>
          <a:prstGeom prst="roundRect">
            <a:avLst>
              <a:gd name="adj" fmla="val 1905"/>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pic>
        <p:nvPicPr>
          <p:cNvPr id="5" name="Image 0" descr="img/b15_1.png">    </p:cNvPr>
          <p:cNvPicPr>
            <a:picLocks noChangeAspect="1"/>
          </p:cNvPicPr>
          <p:nvPr/>
        </p:nvPicPr>
        <p:blipFill>
          <a:blip r:embed="rId1"/>
          <a:stretch>
            <a:fillRect/>
          </a:stretch>
        </p:blipFill>
        <p:spPr>
          <a:xfrm>
            <a:off x="685800" y="2102215"/>
            <a:ext cx="5175504" cy="2562131"/>
          </a:xfrm>
          <a:prstGeom prst="rect">
            <a:avLst/>
          </a:prstGeom>
        </p:spPr>
      </p:pic>
      <p:sp>
        <p:nvSpPr>
          <p:cNvPr id="6" name="Shape 3"/>
          <p:cNvSpPr/>
          <p:nvPr/>
        </p:nvSpPr>
        <p:spPr>
          <a:xfrm>
            <a:off x="6190488" y="1463040"/>
            <a:ext cx="5449824" cy="3840480"/>
          </a:xfrm>
          <a:prstGeom prst="roundRect">
            <a:avLst>
              <a:gd name="adj" fmla="val 1905"/>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pic>
        <p:nvPicPr>
          <p:cNvPr id="7" name="Image 1" descr="img/b15_2.png">    </p:cNvPr>
          <p:cNvPicPr>
            <a:picLocks noChangeAspect="1"/>
          </p:cNvPicPr>
          <p:nvPr/>
        </p:nvPicPr>
        <p:blipFill>
          <a:blip r:embed="rId2"/>
          <a:stretch>
            <a:fillRect/>
          </a:stretch>
        </p:blipFill>
        <p:spPr>
          <a:xfrm>
            <a:off x="6327648" y="2102215"/>
            <a:ext cx="5175504" cy="2562131"/>
          </a:xfrm>
          <a:prstGeom prst="rect">
            <a:avLst/>
          </a:prstGeom>
        </p:spPr>
      </p:pic>
      <p:sp>
        <p:nvSpPr>
          <p:cNvPr id="8" name="Shape 4"/>
          <p:cNvSpPr/>
          <p:nvPr/>
        </p:nvSpPr>
        <p:spPr>
          <a:xfrm>
            <a:off x="548640" y="5532120"/>
            <a:ext cx="11091672" cy="685800"/>
          </a:xfrm>
          <a:prstGeom prst="roundRect">
            <a:avLst>
              <a:gd name="adj" fmla="val 10667"/>
            </a:avLst>
          </a:prstGeom>
          <a:solidFill>
            <a:srgbClr val="E4EFF2"/>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9" name="Text 5"/>
          <p:cNvSpPr txBox="1"/>
          <p:nvPr/>
        </p:nvSpPr>
        <p:spPr>
          <a:xfrm>
            <a:off x="822960" y="5532120"/>
            <a:ext cx="10515600" cy="685800"/>
          </a:xfrm>
          <a:prstGeom prst="rect">
            <a:avLst/>
          </a:prstGeom>
          <a:noFill/>
          <a:ln/>
        </p:spPr>
        <p:txBody>
          <a:bodyPr wrap="square" lIns="0" tIns="0" rIns="0" bIns="0" rtlCol="0" anchor="ctr"/>
          <a:lstStyle/>
          <a:p>
            <a:pPr indent="0" marL="0">
              <a:buNone/>
            </a:pPr>
            <a:r>
              <a:rPr lang="en-US" sz="1500" dirty="0">
                <a:solidFill>
                  <a:srgbClr val="1F2D3A"/>
                </a:solidFill>
                <a:latin typeface="Calibri" pitchFamily="34" charset="0"/>
                <a:ea typeface="Calibri" pitchFamily="34" charset="-122"/>
                <a:cs typeface="Calibri" pitchFamily="34" charset="-120"/>
              </a:rPr>
              <a:t>Temperature peaks in May (~36.7°C) and rain peaks in July (~9.7 mm); the monthly swing (≈11°C) dwarfs year-to-year change (≈1°C).</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1F5F8"/>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200" b="1" dirty="0">
                <a:solidFill>
                  <a:srgbClr val="12263F"/>
                </a:solidFill>
                <a:latin typeface="Cambria" pitchFamily="34" charset="0"/>
                <a:ea typeface="Cambria" pitchFamily="34" charset="-122"/>
                <a:cs typeface="Cambria" pitchFamily="34" charset="-120"/>
              </a:rPr>
              <a:t>Key findings</a:t>
            </a:r>
            <a:endParaRPr lang="en-US" sz="3200" dirty="0"/>
          </a:p>
        </p:txBody>
      </p:sp>
      <p:sp>
        <p:nvSpPr>
          <p:cNvPr id="4" name="Shape 2"/>
          <p:cNvSpPr/>
          <p:nvPr/>
        </p:nvSpPr>
        <p:spPr>
          <a:xfrm>
            <a:off x="548640" y="1463040"/>
            <a:ext cx="3502152" cy="2194560"/>
          </a:xfrm>
          <a:prstGeom prst="roundRect">
            <a:avLst>
              <a:gd name="adj" fmla="val 3333"/>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822960" y="1737360"/>
            <a:ext cx="365760" cy="365760"/>
          </a:xfrm>
          <a:prstGeom prst="ellipse">
            <a:avLst/>
          </a:prstGeom>
          <a:solidFill>
            <a:srgbClr val="F28C28"/>
          </a:solidFill>
          <a:ln/>
        </p:spPr>
      </p:sp>
      <p:sp>
        <p:nvSpPr>
          <p:cNvPr id="6" name="Text 4"/>
          <p:cNvSpPr txBox="1"/>
          <p:nvPr/>
        </p:nvSpPr>
        <p:spPr>
          <a:xfrm>
            <a:off x="822960" y="2286000"/>
            <a:ext cx="2971800" cy="365760"/>
          </a:xfrm>
          <a:prstGeom prst="rect">
            <a:avLst/>
          </a:prstGeom>
          <a:noFill/>
          <a:ln/>
        </p:spPr>
        <p:txBody>
          <a:bodyPr wrap="square" lIns="0" tIns="0" rIns="0" bIns="0" rtlCol="0" anchor="t"/>
          <a:lstStyle/>
          <a:p>
            <a:pPr indent="0" marL="0">
              <a:buNone/>
            </a:pPr>
            <a:r>
              <a:rPr lang="en-US" sz="1900" b="1" dirty="0">
                <a:solidFill>
                  <a:srgbClr val="12263F"/>
                </a:solidFill>
                <a:latin typeface="Cambria" pitchFamily="34" charset="0"/>
                <a:ea typeface="Cambria" pitchFamily="34" charset="-122"/>
                <a:cs typeface="Cambria" pitchFamily="34" charset="-120"/>
              </a:rPr>
              <a:t>Summer heat</a:t>
            </a:r>
            <a:endParaRPr lang="en-US" sz="1900" dirty="0"/>
          </a:p>
        </p:txBody>
      </p:sp>
      <p:sp>
        <p:nvSpPr>
          <p:cNvPr id="7" name="Text 5"/>
          <p:cNvSpPr txBox="1"/>
          <p:nvPr/>
        </p:nvSpPr>
        <p:spPr>
          <a:xfrm>
            <a:off x="822960" y="2743200"/>
            <a:ext cx="2971800" cy="8229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Apr–Jun is hottest, peaking in May near 36.7°C.</a:t>
            </a:r>
            <a:endParaRPr lang="en-US" sz="1500" dirty="0"/>
          </a:p>
        </p:txBody>
      </p:sp>
      <p:sp>
        <p:nvSpPr>
          <p:cNvPr id="8" name="Shape 6"/>
          <p:cNvSpPr/>
          <p:nvPr/>
        </p:nvSpPr>
        <p:spPr>
          <a:xfrm>
            <a:off x="4343400" y="1463040"/>
            <a:ext cx="3502152" cy="2194560"/>
          </a:xfrm>
          <a:prstGeom prst="roundRect">
            <a:avLst>
              <a:gd name="adj" fmla="val 3333"/>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617720" y="1737360"/>
            <a:ext cx="365760" cy="365760"/>
          </a:xfrm>
          <a:prstGeom prst="ellipse">
            <a:avLst/>
          </a:prstGeom>
          <a:solidFill>
            <a:srgbClr val="1F7A8C"/>
          </a:solidFill>
          <a:ln/>
        </p:spPr>
      </p:sp>
      <p:sp>
        <p:nvSpPr>
          <p:cNvPr id="10" name="Text 8"/>
          <p:cNvSpPr txBox="1"/>
          <p:nvPr/>
        </p:nvSpPr>
        <p:spPr>
          <a:xfrm>
            <a:off x="4617720" y="2286000"/>
            <a:ext cx="2971800" cy="365760"/>
          </a:xfrm>
          <a:prstGeom prst="rect">
            <a:avLst/>
          </a:prstGeom>
          <a:noFill/>
          <a:ln/>
        </p:spPr>
        <p:txBody>
          <a:bodyPr wrap="square" lIns="0" tIns="0" rIns="0" bIns="0" rtlCol="0" anchor="t"/>
          <a:lstStyle/>
          <a:p>
            <a:pPr indent="0" marL="0">
              <a:buNone/>
            </a:pPr>
            <a:r>
              <a:rPr lang="en-US" sz="1900" b="1" dirty="0">
                <a:solidFill>
                  <a:srgbClr val="12263F"/>
                </a:solidFill>
                <a:latin typeface="Cambria" pitchFamily="34" charset="0"/>
                <a:ea typeface="Cambria" pitchFamily="34" charset="-122"/>
                <a:cs typeface="Cambria" pitchFamily="34" charset="-120"/>
              </a:rPr>
              <a:t>Monsoon rain</a:t>
            </a:r>
            <a:endParaRPr lang="en-US" sz="1900" dirty="0"/>
          </a:p>
        </p:txBody>
      </p:sp>
      <p:sp>
        <p:nvSpPr>
          <p:cNvPr id="11" name="Text 9"/>
          <p:cNvSpPr txBox="1"/>
          <p:nvPr/>
        </p:nvSpPr>
        <p:spPr>
          <a:xfrm>
            <a:off x="4617720" y="2743200"/>
            <a:ext cx="2971800" cy="8229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Jun–Sep delivers most rain, with a July peak.</a:t>
            </a:r>
            <a:endParaRPr lang="en-US" sz="1500" dirty="0"/>
          </a:p>
        </p:txBody>
      </p:sp>
      <p:sp>
        <p:nvSpPr>
          <p:cNvPr id="12" name="Shape 10"/>
          <p:cNvSpPr/>
          <p:nvPr/>
        </p:nvSpPr>
        <p:spPr>
          <a:xfrm>
            <a:off x="8138160" y="1463040"/>
            <a:ext cx="3502152" cy="2194560"/>
          </a:xfrm>
          <a:prstGeom prst="roundRect">
            <a:avLst>
              <a:gd name="adj" fmla="val 3333"/>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13" name="Shape 11"/>
          <p:cNvSpPr/>
          <p:nvPr/>
        </p:nvSpPr>
        <p:spPr>
          <a:xfrm>
            <a:off x="8412480" y="1737360"/>
            <a:ext cx="365760" cy="365760"/>
          </a:xfrm>
          <a:prstGeom prst="ellipse">
            <a:avLst/>
          </a:prstGeom>
          <a:solidFill>
            <a:srgbClr val="12263F"/>
          </a:solidFill>
          <a:ln/>
        </p:spPr>
      </p:sp>
      <p:sp>
        <p:nvSpPr>
          <p:cNvPr id="14" name="Text 12"/>
          <p:cNvSpPr txBox="1"/>
          <p:nvPr/>
        </p:nvSpPr>
        <p:spPr>
          <a:xfrm>
            <a:off x="8412480" y="2286000"/>
            <a:ext cx="2971800" cy="365760"/>
          </a:xfrm>
          <a:prstGeom prst="rect">
            <a:avLst/>
          </a:prstGeom>
          <a:noFill/>
          <a:ln/>
        </p:spPr>
        <p:txBody>
          <a:bodyPr wrap="square" lIns="0" tIns="0" rIns="0" bIns="0" rtlCol="0" anchor="t"/>
          <a:lstStyle/>
          <a:p>
            <a:pPr indent="0" marL="0">
              <a:buNone/>
            </a:pPr>
            <a:r>
              <a:rPr lang="en-US" sz="1900" b="1" dirty="0">
                <a:solidFill>
                  <a:srgbClr val="12263F"/>
                </a:solidFill>
                <a:latin typeface="Cambria" pitchFamily="34" charset="0"/>
                <a:ea typeface="Cambria" pitchFamily="34" charset="-122"/>
                <a:cs typeface="Cambria" pitchFamily="34" charset="-120"/>
              </a:rPr>
              <a:t>Skewed rainfall</a:t>
            </a:r>
            <a:endParaRPr lang="en-US" sz="1900" dirty="0"/>
          </a:p>
        </p:txBody>
      </p:sp>
      <p:sp>
        <p:nvSpPr>
          <p:cNvPr id="15" name="Text 13"/>
          <p:cNvSpPr txBox="1"/>
          <p:nvPr/>
        </p:nvSpPr>
        <p:spPr>
          <a:xfrm>
            <a:off x="8412480" y="2743200"/>
            <a:ext cx="2971800" cy="8229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Most days are dry, so a log transform helps.</a:t>
            </a:r>
            <a:endParaRPr lang="en-US" sz="1500" dirty="0"/>
          </a:p>
        </p:txBody>
      </p:sp>
      <p:sp>
        <p:nvSpPr>
          <p:cNvPr id="16" name="Shape 14"/>
          <p:cNvSpPr/>
          <p:nvPr/>
        </p:nvSpPr>
        <p:spPr>
          <a:xfrm>
            <a:off x="548640" y="3886200"/>
            <a:ext cx="3502152" cy="2194560"/>
          </a:xfrm>
          <a:prstGeom prst="roundRect">
            <a:avLst>
              <a:gd name="adj" fmla="val 3333"/>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822960" y="4160520"/>
            <a:ext cx="365760" cy="365760"/>
          </a:xfrm>
          <a:prstGeom prst="ellipse">
            <a:avLst/>
          </a:prstGeom>
          <a:solidFill>
            <a:srgbClr val="A26769"/>
          </a:solidFill>
          <a:ln/>
        </p:spPr>
      </p:sp>
      <p:sp>
        <p:nvSpPr>
          <p:cNvPr id="18" name="Text 16"/>
          <p:cNvSpPr txBox="1"/>
          <p:nvPr/>
        </p:nvSpPr>
        <p:spPr>
          <a:xfrm>
            <a:off x="822960" y="4709160"/>
            <a:ext cx="2971800" cy="365760"/>
          </a:xfrm>
          <a:prstGeom prst="rect">
            <a:avLst/>
          </a:prstGeom>
          <a:noFill/>
          <a:ln/>
        </p:spPr>
        <p:txBody>
          <a:bodyPr wrap="square" lIns="0" tIns="0" rIns="0" bIns="0" rtlCol="0" anchor="t"/>
          <a:lstStyle/>
          <a:p>
            <a:pPr indent="0" marL="0">
              <a:buNone/>
            </a:pPr>
            <a:r>
              <a:rPr lang="en-US" sz="1900" b="1" dirty="0">
                <a:solidFill>
                  <a:srgbClr val="12263F"/>
                </a:solidFill>
                <a:latin typeface="Cambria" pitchFamily="34" charset="0"/>
                <a:ea typeface="Cambria" pitchFamily="34" charset="-122"/>
                <a:cs typeface="Cambria" pitchFamily="34" charset="-120"/>
              </a:rPr>
              <a:t>City contrast</a:t>
            </a:r>
            <a:endParaRPr lang="en-US" sz="1900" dirty="0"/>
          </a:p>
        </p:txBody>
      </p:sp>
      <p:sp>
        <p:nvSpPr>
          <p:cNvPr id="19" name="Text 17"/>
          <p:cNvSpPr txBox="1"/>
          <p:nvPr/>
        </p:nvSpPr>
        <p:spPr>
          <a:xfrm>
            <a:off x="822960" y="5166360"/>
            <a:ext cx="2971800" cy="8229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Ahmedabad is hottest, Mumbai wettest, Bangalore mildest.</a:t>
            </a:r>
            <a:endParaRPr lang="en-US" sz="1500" dirty="0"/>
          </a:p>
        </p:txBody>
      </p:sp>
      <p:sp>
        <p:nvSpPr>
          <p:cNvPr id="20" name="Shape 18"/>
          <p:cNvSpPr/>
          <p:nvPr/>
        </p:nvSpPr>
        <p:spPr>
          <a:xfrm>
            <a:off x="4343400" y="3886200"/>
            <a:ext cx="3502152" cy="2194560"/>
          </a:xfrm>
          <a:prstGeom prst="roundRect">
            <a:avLst>
              <a:gd name="adj" fmla="val 3333"/>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4617720" y="4160520"/>
            <a:ext cx="365760" cy="365760"/>
          </a:xfrm>
          <a:prstGeom prst="ellipse">
            <a:avLst/>
          </a:prstGeom>
          <a:solidFill>
            <a:srgbClr val="F28C28"/>
          </a:solidFill>
          <a:ln/>
        </p:spPr>
      </p:sp>
      <p:sp>
        <p:nvSpPr>
          <p:cNvPr id="22" name="Text 20"/>
          <p:cNvSpPr txBox="1"/>
          <p:nvPr/>
        </p:nvSpPr>
        <p:spPr>
          <a:xfrm>
            <a:off x="4617720" y="4709160"/>
            <a:ext cx="2971800" cy="365760"/>
          </a:xfrm>
          <a:prstGeom prst="rect">
            <a:avLst/>
          </a:prstGeom>
          <a:noFill/>
          <a:ln/>
        </p:spPr>
        <p:txBody>
          <a:bodyPr wrap="square" lIns="0" tIns="0" rIns="0" bIns="0" rtlCol="0" anchor="t"/>
          <a:lstStyle/>
          <a:p>
            <a:pPr indent="0" marL="0">
              <a:buNone/>
            </a:pPr>
            <a:r>
              <a:rPr lang="en-US" sz="1900" b="1" dirty="0">
                <a:solidFill>
                  <a:srgbClr val="12263F"/>
                </a:solidFill>
                <a:latin typeface="Cambria" pitchFamily="34" charset="0"/>
                <a:ea typeface="Cambria" pitchFamily="34" charset="-122"/>
                <a:cs typeface="Cambria" pitchFamily="34" charset="-120"/>
              </a:rPr>
              <a:t>Redundant features</a:t>
            </a:r>
            <a:endParaRPr lang="en-US" sz="1900" dirty="0"/>
          </a:p>
        </p:txBody>
      </p:sp>
      <p:sp>
        <p:nvSpPr>
          <p:cNvPr id="23" name="Text 21"/>
          <p:cNvSpPr txBox="1"/>
          <p:nvPr/>
        </p:nvSpPr>
        <p:spPr>
          <a:xfrm>
            <a:off x="4617720" y="5166360"/>
            <a:ext cx="2971800" cy="8229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Temperature and wind pairs are highly correlated.</a:t>
            </a:r>
            <a:endParaRPr lang="en-US" sz="1500" dirty="0"/>
          </a:p>
        </p:txBody>
      </p:sp>
      <p:sp>
        <p:nvSpPr>
          <p:cNvPr id="24" name="Shape 22"/>
          <p:cNvSpPr/>
          <p:nvPr/>
        </p:nvSpPr>
        <p:spPr>
          <a:xfrm>
            <a:off x="8138160" y="3886200"/>
            <a:ext cx="3502152" cy="2194560"/>
          </a:xfrm>
          <a:prstGeom prst="roundRect">
            <a:avLst>
              <a:gd name="adj" fmla="val 3333"/>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25" name="Shape 23"/>
          <p:cNvSpPr/>
          <p:nvPr/>
        </p:nvSpPr>
        <p:spPr>
          <a:xfrm>
            <a:off x="8412480" y="4160520"/>
            <a:ext cx="365760" cy="365760"/>
          </a:xfrm>
          <a:prstGeom prst="ellipse">
            <a:avLst/>
          </a:prstGeom>
          <a:solidFill>
            <a:srgbClr val="1F7A8C"/>
          </a:solidFill>
          <a:ln/>
        </p:spPr>
      </p:sp>
      <p:sp>
        <p:nvSpPr>
          <p:cNvPr id="26" name="Text 24"/>
          <p:cNvSpPr txBox="1"/>
          <p:nvPr/>
        </p:nvSpPr>
        <p:spPr>
          <a:xfrm>
            <a:off x="8412480" y="4709160"/>
            <a:ext cx="2971800" cy="365760"/>
          </a:xfrm>
          <a:prstGeom prst="rect">
            <a:avLst/>
          </a:prstGeom>
          <a:noFill/>
          <a:ln/>
        </p:spPr>
        <p:txBody>
          <a:bodyPr wrap="square" lIns="0" tIns="0" rIns="0" bIns="0" rtlCol="0" anchor="t"/>
          <a:lstStyle/>
          <a:p>
            <a:pPr indent="0" marL="0">
              <a:buNone/>
            </a:pPr>
            <a:r>
              <a:rPr lang="en-US" sz="1900" b="1" dirty="0">
                <a:solidFill>
                  <a:srgbClr val="12263F"/>
                </a:solidFill>
                <a:latin typeface="Cambria" pitchFamily="34" charset="0"/>
                <a:ea typeface="Cambria" pitchFamily="34" charset="-122"/>
                <a:cs typeface="Cambria" pitchFamily="34" charset="-120"/>
              </a:rPr>
              <a:t>Weak yearly trend</a:t>
            </a:r>
            <a:endParaRPr lang="en-US" sz="1900" dirty="0"/>
          </a:p>
        </p:txBody>
      </p:sp>
      <p:sp>
        <p:nvSpPr>
          <p:cNvPr id="27" name="Text 25"/>
          <p:cNvSpPr txBox="1"/>
          <p:nvPr/>
        </p:nvSpPr>
        <p:spPr>
          <a:xfrm>
            <a:off x="8412480" y="5166360"/>
            <a:ext cx="2971800" cy="822960"/>
          </a:xfrm>
          <a:prstGeom prst="rect">
            <a:avLst/>
          </a:prstGeom>
          <a:noFill/>
          <a:ln/>
        </p:spPr>
        <p:txBody>
          <a:bodyPr wrap="square" lIns="0" tIns="0" rIns="0" bIns="0" rtlCol="0" anchor="t"/>
          <a:lstStyle/>
          <a:p>
            <a:pPr indent="0" marL="0">
              <a:buNone/>
            </a:pPr>
            <a:r>
              <a:rPr lang="en-US" sz="1500" dirty="0">
                <a:solidFill>
                  <a:srgbClr val="5B6B7A"/>
                </a:solidFill>
                <a:latin typeface="Calibri" pitchFamily="34" charset="0"/>
                <a:ea typeface="Calibri" pitchFamily="34" charset="-122"/>
                <a:cs typeface="Calibri" pitchFamily="34" charset="-120"/>
              </a:rPr>
              <a:t>Seasonality outweighs year-to-year change.</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2263F"/>
        </a:solidFill>
      </p:bgPr>
    </p:bg>
    <p:spTree>
      <p:nvGrpSpPr>
        <p:cNvPr id="1" name=""/>
        <p:cNvGrpSpPr/>
        <p:nvPr/>
      </p:nvGrpSpPr>
      <p:grpSpPr>
        <a:xfrm>
          <a:off x="0" y="0"/>
          <a:ext cx="0" cy="0"/>
          <a:chOff x="0" y="0"/>
          <a:chExt cx="0" cy="0"/>
        </a:xfrm>
      </p:grpSpPr>
      <p:sp>
        <p:nvSpPr>
          <p:cNvPr id="2" name="Shape 0"/>
          <p:cNvSpPr/>
          <p:nvPr/>
        </p:nvSpPr>
        <p:spPr>
          <a:xfrm>
            <a:off x="8412480" y="-1097280"/>
            <a:ext cx="5029200" cy="5029200"/>
          </a:xfrm>
          <a:prstGeom prst="ellipse">
            <a:avLst/>
          </a:prstGeom>
          <a:solidFill>
            <a:srgbClr val="3A4650">
              <a:alpha val="70000"/>
            </a:srgbClr>
          </a:solidFill>
          <a:ln/>
        </p:spPr>
      </p:sp>
      <p:sp>
        <p:nvSpPr>
          <p:cNvPr id="3" name="Shape 1"/>
          <p:cNvSpPr/>
          <p:nvPr/>
        </p:nvSpPr>
        <p:spPr>
          <a:xfrm>
            <a:off x="9144000" y="3474720"/>
            <a:ext cx="4206240" cy="4206240"/>
          </a:xfrm>
          <a:prstGeom prst="ellipse">
            <a:avLst/>
          </a:prstGeom>
          <a:solidFill>
            <a:srgbClr val="1F7A8C">
              <a:alpha val="45000"/>
            </a:srgbClr>
          </a:solidFill>
          <a:ln/>
        </p:spPr>
      </p:sp>
      <p:sp>
        <p:nvSpPr>
          <p:cNvPr id="4" name="Text 2"/>
          <p:cNvSpPr txBox="1"/>
          <p:nvPr/>
        </p:nvSpPr>
        <p:spPr>
          <a:xfrm>
            <a:off x="548640" y="365760"/>
            <a:ext cx="9144000" cy="274320"/>
          </a:xfrm>
          <a:prstGeom prst="rect">
            <a:avLst/>
          </a:prstGeom>
          <a:noFill/>
          <a:ln/>
        </p:spPr>
        <p:txBody>
          <a:bodyPr wrap="square" lIns="0" tIns="0" rIns="0" bIns="0" rtlCol="0" anchor="t"/>
          <a:lstStyle/>
          <a:p>
            <a:pPr indent="0" marL="0">
              <a:buNone/>
            </a:pPr>
            <a:r>
              <a:rPr lang="en-US" sz="1100" b="1" spc="300" kern="0" dirty="0">
                <a:solidFill>
                  <a:srgbClr val="F28C28"/>
                </a:solidFill>
                <a:latin typeface="Calibri" pitchFamily="34" charset="0"/>
                <a:ea typeface="Calibri" pitchFamily="34" charset="-122"/>
                <a:cs typeface="Calibri" pitchFamily="34" charset="-120"/>
              </a:rPr>
              <a:t>SUMMARY</a:t>
            </a:r>
            <a:endParaRPr lang="en-US" sz="1100" dirty="0"/>
          </a:p>
        </p:txBody>
      </p:sp>
      <p:sp>
        <p:nvSpPr>
          <p:cNvPr id="5" name="Text 3"/>
          <p:cNvSpPr txBox="1"/>
          <p:nvPr/>
        </p:nvSpPr>
        <p:spPr>
          <a:xfrm>
            <a:off x="548640" y="640080"/>
            <a:ext cx="109728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 and next steps</a:t>
            </a:r>
            <a:endParaRPr lang="en-US" sz="3200" dirty="0"/>
          </a:p>
        </p:txBody>
      </p:sp>
      <p:sp>
        <p:nvSpPr>
          <p:cNvPr id="6" name="Shape 4"/>
          <p:cNvSpPr/>
          <p:nvPr/>
        </p:nvSpPr>
        <p:spPr>
          <a:xfrm>
            <a:off x="548640" y="1645920"/>
            <a:ext cx="5449824" cy="4480560"/>
          </a:xfrm>
          <a:prstGeom prst="roundRect">
            <a:avLst>
              <a:gd name="adj" fmla="val 1633"/>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822960" y="1874520"/>
            <a:ext cx="4937760" cy="365760"/>
          </a:xfrm>
          <a:prstGeom prst="rect">
            <a:avLst/>
          </a:prstGeom>
          <a:noFill/>
          <a:ln/>
        </p:spPr>
        <p:txBody>
          <a:bodyPr wrap="square" lIns="0" tIns="0" rIns="0" bIns="0" rtlCol="0" anchor="t"/>
          <a:lstStyle/>
          <a:p>
            <a:pPr indent="0" marL="0">
              <a:buNone/>
            </a:pPr>
            <a:r>
              <a:rPr lang="en-US" sz="2000" b="1" dirty="0">
                <a:solidFill>
                  <a:srgbClr val="1F7A8C"/>
                </a:solidFill>
                <a:latin typeface="Cambria" pitchFamily="34" charset="0"/>
                <a:ea typeface="Cambria" pitchFamily="34" charset="-122"/>
                <a:cs typeface="Cambria" pitchFamily="34" charset="-120"/>
              </a:rPr>
              <a:t>What we learned</a:t>
            </a:r>
            <a:endParaRPr lang="en-US" sz="2000" dirty="0"/>
          </a:p>
        </p:txBody>
      </p:sp>
      <p:sp>
        <p:nvSpPr>
          <p:cNvPr id="8" name="Text 6"/>
          <p:cNvSpPr txBox="1"/>
          <p:nvPr/>
        </p:nvSpPr>
        <p:spPr>
          <a:xfrm>
            <a:off x="822960" y="2514600"/>
            <a:ext cx="4937760" cy="34747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F2D3A"/>
                </a:solidFill>
                <a:latin typeface="Calibri" pitchFamily="34" charset="0"/>
                <a:ea typeface="Calibri" pitchFamily="34" charset="-122"/>
                <a:cs typeface="Calibri" pitchFamily="34" charset="-120"/>
              </a:rPr>
              <a:t>Weather here is driven by strong seasonality</a:t>
            </a:r>
            <a:endParaRPr lang="en-US" sz="1700" dirty="0"/>
          </a:p>
          <a:p>
            <a:pPr marL="342900" indent="-342900">
              <a:spcAft>
                <a:spcPts val="800"/>
              </a:spcAft>
              <a:buSzPct val="100000"/>
              <a:buChar char="•"/>
            </a:pPr>
            <a:r>
              <a:rPr lang="en-US" sz="1700" dirty="0">
                <a:solidFill>
                  <a:srgbClr val="1F2D3A"/>
                </a:solidFill>
                <a:latin typeface="Calibri" pitchFamily="34" charset="0"/>
                <a:ea typeface="Calibri" pitchFamily="34" charset="-122"/>
                <a:cs typeface="Calibri" pitchFamily="34" charset="-120"/>
              </a:rPr>
              <a:t>Rainfall is highly skewed and monsoon-dominated</a:t>
            </a:r>
            <a:endParaRPr lang="en-US" sz="1700" dirty="0"/>
          </a:p>
          <a:p>
            <a:pPr marL="342900" indent="-342900">
              <a:spcAft>
                <a:spcPts val="800"/>
              </a:spcAft>
              <a:buSzPct val="100000"/>
              <a:buChar char="•"/>
            </a:pPr>
            <a:r>
              <a:rPr lang="en-US" sz="1700" dirty="0">
                <a:solidFill>
                  <a:srgbClr val="1F2D3A"/>
                </a:solidFill>
                <a:latin typeface="Calibri" pitchFamily="34" charset="0"/>
                <a:ea typeface="Calibri" pitchFamily="34" charset="-122"/>
                <a:cs typeface="Calibri" pitchFamily="34" charset="-120"/>
              </a:rPr>
              <a:t>Cities differ clearly in heat, rain and variability</a:t>
            </a:r>
            <a:endParaRPr lang="en-US" sz="1700" dirty="0"/>
          </a:p>
        </p:txBody>
      </p:sp>
      <p:sp>
        <p:nvSpPr>
          <p:cNvPr id="9" name="Shape 7"/>
          <p:cNvSpPr/>
          <p:nvPr/>
        </p:nvSpPr>
        <p:spPr>
          <a:xfrm>
            <a:off x="6190488" y="1645920"/>
            <a:ext cx="5449824" cy="4480560"/>
          </a:xfrm>
          <a:prstGeom prst="roundRect">
            <a:avLst>
              <a:gd name="adj" fmla="val 1633"/>
            </a:avLst>
          </a:prstGeom>
          <a:solidFill>
            <a:srgbClr val="FFFFFF"/>
          </a:solidFill>
          <a:ln w="9525">
            <a:solidFill>
              <a:srgbClr val="DCE5EC"/>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6464808" y="1874520"/>
            <a:ext cx="4937760" cy="365760"/>
          </a:xfrm>
          <a:prstGeom prst="rect">
            <a:avLst/>
          </a:prstGeom>
          <a:noFill/>
          <a:ln/>
        </p:spPr>
        <p:txBody>
          <a:bodyPr wrap="square" lIns="0" tIns="0" rIns="0" bIns="0" rtlCol="0" anchor="t"/>
          <a:lstStyle/>
          <a:p>
            <a:pPr indent="0" marL="0">
              <a:buNone/>
            </a:pPr>
            <a:r>
              <a:rPr lang="en-US" sz="2000" b="1" dirty="0">
                <a:solidFill>
                  <a:srgbClr val="F28C28"/>
                </a:solidFill>
                <a:latin typeface="Cambria" pitchFamily="34" charset="0"/>
                <a:ea typeface="Cambria" pitchFamily="34" charset="-122"/>
                <a:cs typeface="Cambria" pitchFamily="34" charset="-120"/>
              </a:rPr>
              <a:t>Next steps</a:t>
            </a:r>
            <a:endParaRPr lang="en-US" sz="2000" dirty="0"/>
          </a:p>
        </p:txBody>
      </p:sp>
      <p:sp>
        <p:nvSpPr>
          <p:cNvPr id="11" name="Text 9"/>
          <p:cNvSpPr txBox="1"/>
          <p:nvPr/>
        </p:nvSpPr>
        <p:spPr>
          <a:xfrm>
            <a:off x="6464808" y="2560320"/>
            <a:ext cx="457200" cy="457200"/>
          </a:xfrm>
          <a:prstGeom prst="ellipse">
            <a:avLst/>
          </a:prstGeom>
          <a:solidFill>
            <a:srgbClr val="12263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txBox="1"/>
          <p:nvPr/>
        </p:nvSpPr>
        <p:spPr>
          <a:xfrm>
            <a:off x="7178040" y="2468880"/>
            <a:ext cx="4206240" cy="640080"/>
          </a:xfrm>
          <a:prstGeom prst="rect">
            <a:avLst/>
          </a:prstGeom>
          <a:noFill/>
          <a:ln/>
        </p:spPr>
        <p:txBody>
          <a:bodyPr wrap="square" lIns="0" tIns="0" rIns="0" bIns="0" rtlCol="0" anchor="ctr"/>
          <a:lstStyle/>
          <a:p>
            <a:pPr indent="0" marL="0">
              <a:buNone/>
            </a:pPr>
            <a:r>
              <a:rPr lang="en-US" sz="1700" dirty="0">
                <a:solidFill>
                  <a:srgbClr val="1F2D3A"/>
                </a:solidFill>
                <a:latin typeface="Calibri" pitchFamily="34" charset="0"/>
                <a:ea typeface="Calibri" pitchFamily="34" charset="-122"/>
                <a:cs typeface="Calibri" pitchFamily="34" charset="-120"/>
              </a:rPr>
              <a:t>Predict daily temperature and rain with ML models</a:t>
            </a:r>
            <a:endParaRPr lang="en-US" sz="1700" dirty="0"/>
          </a:p>
        </p:txBody>
      </p:sp>
      <p:sp>
        <p:nvSpPr>
          <p:cNvPr id="13" name="Text 11"/>
          <p:cNvSpPr txBox="1"/>
          <p:nvPr/>
        </p:nvSpPr>
        <p:spPr>
          <a:xfrm>
            <a:off x="6464808" y="3657600"/>
            <a:ext cx="457200" cy="457200"/>
          </a:xfrm>
          <a:prstGeom prst="ellipse">
            <a:avLst/>
          </a:prstGeom>
          <a:solidFill>
            <a:srgbClr val="1F7A8C"/>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7178040" y="3566160"/>
            <a:ext cx="4206240" cy="640080"/>
          </a:xfrm>
          <a:prstGeom prst="rect">
            <a:avLst/>
          </a:prstGeom>
          <a:noFill/>
          <a:ln/>
        </p:spPr>
        <p:txBody>
          <a:bodyPr wrap="square" lIns="0" tIns="0" rIns="0" bIns="0" rtlCol="0" anchor="ctr"/>
          <a:lstStyle/>
          <a:p>
            <a:pPr indent="0" marL="0">
              <a:buNone/>
            </a:pPr>
            <a:r>
              <a:rPr lang="en-US" sz="1700" dirty="0">
                <a:solidFill>
                  <a:srgbClr val="1F2D3A"/>
                </a:solidFill>
                <a:latin typeface="Calibri" pitchFamily="34" charset="0"/>
                <a:ea typeface="Calibri" pitchFamily="34" charset="-122"/>
                <a:cs typeface="Calibri" pitchFamily="34" charset="-120"/>
              </a:rPr>
              <a:t>Cluster cities by climate profile</a:t>
            </a:r>
            <a:endParaRPr lang="en-US" sz="1700" dirty="0"/>
          </a:p>
        </p:txBody>
      </p:sp>
      <p:sp>
        <p:nvSpPr>
          <p:cNvPr id="15" name="Text 13"/>
          <p:cNvSpPr txBox="1"/>
          <p:nvPr/>
        </p:nvSpPr>
        <p:spPr>
          <a:xfrm>
            <a:off x="6464808" y="4754880"/>
            <a:ext cx="457200" cy="457200"/>
          </a:xfrm>
          <a:prstGeom prst="ellipse">
            <a:avLst/>
          </a:prstGeom>
          <a:solidFill>
            <a:srgbClr val="12263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7178040" y="4663440"/>
            <a:ext cx="4206240" cy="640080"/>
          </a:xfrm>
          <a:prstGeom prst="rect">
            <a:avLst/>
          </a:prstGeom>
          <a:noFill/>
          <a:ln/>
        </p:spPr>
        <p:txBody>
          <a:bodyPr wrap="square" lIns="0" tIns="0" rIns="0" bIns="0" rtlCol="0" anchor="ctr"/>
          <a:lstStyle/>
          <a:p>
            <a:pPr indent="0" marL="0">
              <a:buNone/>
            </a:pPr>
            <a:r>
              <a:rPr lang="en-US" sz="1700" dirty="0">
                <a:solidFill>
                  <a:srgbClr val="1F2D3A"/>
                </a:solidFill>
                <a:latin typeface="Calibri" pitchFamily="34" charset="0"/>
                <a:ea typeface="Calibri" pitchFamily="34" charset="-122"/>
                <a:cs typeface="Calibri" pitchFamily="34" charset="-120"/>
              </a:rPr>
              <a:t>Decompose and forecast the time series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2026-09-30T15:57:05Z</dcterms:created>
  <dcterms:modified xsi:type="dcterms:W3CDTF">2026-09-30T15:57:05Z</dcterms:modified>
</cp:coreProperties>
</file>